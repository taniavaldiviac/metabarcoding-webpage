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1721" r:id="rId2"/>
    <p:sldId id="1722" r:id="rId3"/>
    <p:sldId id="1723" r:id="rId4"/>
    <p:sldId id="1724" r:id="rId5"/>
    <p:sldId id="1725" r:id="rId6"/>
    <p:sldId id="1726" r:id="rId7"/>
    <p:sldId id="1727" r:id="rId8"/>
    <p:sldId id="1732" r:id="rId9"/>
    <p:sldId id="1733" r:id="rId10"/>
    <p:sldId id="1735" r:id="rId11"/>
    <p:sldId id="1736" r:id="rId12"/>
    <p:sldId id="1737" r:id="rId13"/>
    <p:sldId id="1738" r:id="rId14"/>
    <p:sldId id="1750" r:id="rId15"/>
    <p:sldId id="1739" r:id="rId16"/>
    <p:sldId id="1740" r:id="rId17"/>
    <p:sldId id="1741" r:id="rId18"/>
    <p:sldId id="1742" r:id="rId19"/>
    <p:sldId id="1743" r:id="rId20"/>
    <p:sldId id="1744" r:id="rId21"/>
    <p:sldId id="1745" r:id="rId22"/>
    <p:sldId id="1747" r:id="rId23"/>
    <p:sldId id="1746" r:id="rId24"/>
    <p:sldId id="1749" r:id="rId25"/>
    <p:sldId id="1748" r:id="rId26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85"/>
  </p:normalViewPr>
  <p:slideViewPr>
    <p:cSldViewPr snapToGrid="0" showGuides="1">
      <p:cViewPr varScale="1">
        <p:scale>
          <a:sx n="113" d="100"/>
          <a:sy n="113" d="100"/>
        </p:scale>
        <p:origin x="90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DDDD69-20F5-754A-A4DD-43627B576B39}" type="doc">
      <dgm:prSet loTypeId="urn:microsoft.com/office/officeart/2005/8/layout/bProcess3" loCatId="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9DDB18D-C2E0-6F48-902C-472C0B3DCEDB}">
      <dgm:prSet/>
      <dgm:spPr/>
      <dgm:t>
        <a:bodyPr/>
        <a:lstStyle/>
        <a:p>
          <a:pPr>
            <a:buNone/>
          </a:pPr>
          <a:r>
            <a:rPr lang="en-US" b="0" i="0" dirty="0"/>
            <a:t>Datos Crudos FASTQ  </a:t>
          </a:r>
        </a:p>
      </dgm:t>
    </dgm:pt>
    <dgm:pt modelId="{6C5CF1E3-EA16-1349-954B-3B4216B20E89}" type="parTrans" cxnId="{1BC2E3D1-F5D8-DC40-9694-E429F0E375E4}">
      <dgm:prSet/>
      <dgm:spPr/>
      <dgm:t>
        <a:bodyPr/>
        <a:lstStyle/>
        <a:p>
          <a:endParaRPr lang="en-US"/>
        </a:p>
      </dgm:t>
    </dgm:pt>
    <dgm:pt modelId="{5B2CC2BA-323B-F542-8EDD-814353CAB97B}" type="sibTrans" cxnId="{1BC2E3D1-F5D8-DC40-9694-E429F0E375E4}">
      <dgm:prSet/>
      <dgm:spPr/>
      <dgm:t>
        <a:bodyPr/>
        <a:lstStyle/>
        <a:p>
          <a:endParaRPr lang="en-US"/>
        </a:p>
      </dgm:t>
    </dgm:pt>
    <dgm:pt modelId="{594CD5FB-ACDF-6540-891F-EE6A2E616234}">
      <dgm:prSet/>
      <dgm:spPr/>
      <dgm:t>
        <a:bodyPr/>
        <a:lstStyle/>
        <a:p>
          <a:pPr>
            <a:buNone/>
          </a:pPr>
          <a:r>
            <a:rPr lang="en-US" b="0" i="0" dirty="0"/>
            <a:t>1. </a:t>
          </a:r>
          <a:r>
            <a:rPr lang="en-US" b="0" i="0" dirty="0" err="1"/>
            <a:t>Inspección</a:t>
          </a:r>
          <a:r>
            <a:rPr lang="en-US" b="0" i="0" dirty="0"/>
            <a:t> Calidad  </a:t>
          </a:r>
          <a:r>
            <a:rPr lang="en-US" b="0" i="0" dirty="0" err="1"/>
            <a:t>plotQualityProfile</a:t>
          </a:r>
          <a:r>
            <a:rPr lang="en-US" b="0" i="0" dirty="0"/>
            <a:t>()</a:t>
          </a:r>
          <a:endParaRPr lang="en-MX" b="0" i="0" dirty="0"/>
        </a:p>
      </dgm:t>
    </dgm:pt>
    <dgm:pt modelId="{CC9C2E65-F12F-5847-99D8-7BE73780ADCF}" type="parTrans" cxnId="{59998C1A-EEF2-5844-AD26-9C6193D363C0}">
      <dgm:prSet/>
      <dgm:spPr/>
      <dgm:t>
        <a:bodyPr/>
        <a:lstStyle/>
        <a:p>
          <a:endParaRPr lang="en-US"/>
        </a:p>
      </dgm:t>
    </dgm:pt>
    <dgm:pt modelId="{8C065FE9-7C12-EA48-A377-C840D021224A}" type="sibTrans" cxnId="{59998C1A-EEF2-5844-AD26-9C6193D363C0}">
      <dgm:prSet/>
      <dgm:spPr/>
      <dgm:t>
        <a:bodyPr/>
        <a:lstStyle/>
        <a:p>
          <a:endParaRPr lang="en-US"/>
        </a:p>
      </dgm:t>
    </dgm:pt>
    <dgm:pt modelId="{91F4A22C-18D3-A046-8EB7-976702542B1A}">
      <dgm:prSet/>
      <dgm:spPr/>
      <dgm:t>
        <a:bodyPr/>
        <a:lstStyle/>
        <a:p>
          <a:pPr>
            <a:buNone/>
          </a:pPr>
          <a:r>
            <a:rPr lang="en-US" b="0" i="0" dirty="0"/>
            <a:t>2. </a:t>
          </a:r>
          <a:r>
            <a:rPr lang="en-US" b="0" i="0" dirty="0" err="1"/>
            <a:t>Filtrado</a:t>
          </a:r>
          <a:r>
            <a:rPr lang="en-US" b="0" i="0" dirty="0"/>
            <a:t> y </a:t>
          </a:r>
          <a:r>
            <a:rPr lang="en-US" b="0" i="0" dirty="0" err="1"/>
            <a:t>Recorte</a:t>
          </a:r>
          <a:r>
            <a:rPr lang="en-US" b="0" i="0" dirty="0"/>
            <a:t> </a:t>
          </a:r>
          <a:r>
            <a:rPr lang="en-US" b="0" i="0" dirty="0" err="1"/>
            <a:t>filterAndTrim</a:t>
          </a:r>
          <a:r>
            <a:rPr lang="en-US" b="0" i="0" dirty="0"/>
            <a:t>()</a:t>
          </a:r>
        </a:p>
      </dgm:t>
    </dgm:pt>
    <dgm:pt modelId="{94F641EB-A279-D640-A8FD-60B202FC240B}" type="parTrans" cxnId="{437958C6-24F7-D545-905A-950EF69FF92A}">
      <dgm:prSet/>
      <dgm:spPr/>
      <dgm:t>
        <a:bodyPr/>
        <a:lstStyle/>
        <a:p>
          <a:endParaRPr lang="en-US"/>
        </a:p>
      </dgm:t>
    </dgm:pt>
    <dgm:pt modelId="{75D5EF4C-2349-6C43-8160-97229F391645}" type="sibTrans" cxnId="{437958C6-24F7-D545-905A-950EF69FF92A}">
      <dgm:prSet/>
      <dgm:spPr/>
      <dgm:t>
        <a:bodyPr/>
        <a:lstStyle/>
        <a:p>
          <a:endParaRPr lang="en-US"/>
        </a:p>
      </dgm:t>
    </dgm:pt>
    <dgm:pt modelId="{06BEA6C3-DEC2-8A47-9C57-FEDA8E0C7B7C}">
      <dgm:prSet/>
      <dgm:spPr/>
      <dgm:t>
        <a:bodyPr/>
        <a:lstStyle/>
        <a:p>
          <a:pPr>
            <a:buNone/>
          </a:pPr>
          <a:r>
            <a:rPr lang="en-US" b="0" i="0" dirty="0"/>
            <a:t>3. </a:t>
          </a:r>
          <a:r>
            <a:rPr lang="en-US" b="0" i="0" dirty="0" err="1"/>
            <a:t>Modelo</a:t>
          </a:r>
          <a:r>
            <a:rPr lang="en-US" b="0" i="0" dirty="0"/>
            <a:t> de Error  </a:t>
          </a:r>
          <a:r>
            <a:rPr lang="en-US" b="0" i="0" dirty="0" err="1"/>
            <a:t>learnErrors</a:t>
          </a:r>
          <a:r>
            <a:rPr lang="en-US" b="0" i="0" dirty="0"/>
            <a:t>()</a:t>
          </a:r>
        </a:p>
      </dgm:t>
    </dgm:pt>
    <dgm:pt modelId="{5B36F816-DE11-6E46-849C-610BF56ADB59}" type="parTrans" cxnId="{AC2B3094-420F-9149-80FD-9AEF74326A62}">
      <dgm:prSet/>
      <dgm:spPr/>
      <dgm:t>
        <a:bodyPr/>
        <a:lstStyle/>
        <a:p>
          <a:endParaRPr lang="en-US"/>
        </a:p>
      </dgm:t>
    </dgm:pt>
    <dgm:pt modelId="{B8A1521F-B004-084D-9CB3-BD59AC102A31}" type="sibTrans" cxnId="{AC2B3094-420F-9149-80FD-9AEF74326A62}">
      <dgm:prSet/>
      <dgm:spPr/>
      <dgm:t>
        <a:bodyPr/>
        <a:lstStyle/>
        <a:p>
          <a:endParaRPr lang="en-US"/>
        </a:p>
      </dgm:t>
    </dgm:pt>
    <dgm:pt modelId="{82D61FCA-BC55-ED4D-BA88-1EC7B5A8BC06}">
      <dgm:prSet/>
      <dgm:spPr/>
      <dgm:t>
        <a:bodyPr/>
        <a:lstStyle/>
        <a:p>
          <a:pPr>
            <a:buNone/>
          </a:pPr>
          <a:r>
            <a:rPr lang="en-US" b="0" i="0" dirty="0"/>
            <a:t>4. </a:t>
          </a:r>
          <a:r>
            <a:rPr lang="en-US" b="0" i="0" dirty="0" err="1"/>
            <a:t>Inferencia</a:t>
          </a:r>
          <a:r>
            <a:rPr lang="en-US" b="0" i="0" dirty="0"/>
            <a:t> de ASVs dada()</a:t>
          </a:r>
        </a:p>
      </dgm:t>
    </dgm:pt>
    <dgm:pt modelId="{D067D45C-6083-DA4F-B4AA-2F8CD505D1AF}" type="parTrans" cxnId="{9BB16112-8551-B348-ACD0-AB7E440DA3B2}">
      <dgm:prSet/>
      <dgm:spPr/>
      <dgm:t>
        <a:bodyPr/>
        <a:lstStyle/>
        <a:p>
          <a:endParaRPr lang="en-US"/>
        </a:p>
      </dgm:t>
    </dgm:pt>
    <dgm:pt modelId="{6BFF4069-63D9-AE4A-8444-F7D0FD6FD2C3}" type="sibTrans" cxnId="{9BB16112-8551-B348-ACD0-AB7E440DA3B2}">
      <dgm:prSet/>
      <dgm:spPr/>
      <dgm:t>
        <a:bodyPr/>
        <a:lstStyle/>
        <a:p>
          <a:endParaRPr lang="en-US"/>
        </a:p>
      </dgm:t>
    </dgm:pt>
    <dgm:pt modelId="{D380D270-34BC-F64F-B72C-0CAE0BACEDEC}">
      <dgm:prSet/>
      <dgm:spPr/>
      <dgm:t>
        <a:bodyPr/>
        <a:lstStyle/>
        <a:p>
          <a:pPr>
            <a:buNone/>
          </a:pPr>
          <a:r>
            <a:rPr lang="en-US" b="0" i="0" dirty="0"/>
            <a:t>5. Merge Paired-End    merge()</a:t>
          </a:r>
        </a:p>
      </dgm:t>
    </dgm:pt>
    <dgm:pt modelId="{5D329F09-A1B8-B945-B50F-701864379B3C}" type="parTrans" cxnId="{14D2957D-761D-C343-8CBD-96B3EA301EC6}">
      <dgm:prSet/>
      <dgm:spPr/>
      <dgm:t>
        <a:bodyPr/>
        <a:lstStyle/>
        <a:p>
          <a:endParaRPr lang="en-US"/>
        </a:p>
      </dgm:t>
    </dgm:pt>
    <dgm:pt modelId="{2AA3F17B-7F8D-A646-9908-A36E66A4E5D5}" type="sibTrans" cxnId="{14D2957D-761D-C343-8CBD-96B3EA301EC6}">
      <dgm:prSet/>
      <dgm:spPr/>
      <dgm:t>
        <a:bodyPr/>
        <a:lstStyle/>
        <a:p>
          <a:endParaRPr lang="en-US"/>
        </a:p>
      </dgm:t>
    </dgm:pt>
    <dgm:pt modelId="{E2657004-EE72-1248-8886-28A672D85E9E}">
      <dgm:prSet/>
      <dgm:spPr/>
      <dgm:t>
        <a:bodyPr/>
        <a:lstStyle/>
        <a:p>
          <a:pPr>
            <a:buNone/>
          </a:pPr>
          <a:r>
            <a:rPr lang="en-US" b="0" i="0" dirty="0"/>
            <a:t>7. </a:t>
          </a:r>
          <a:r>
            <a:rPr lang="en-US" b="0" i="0" dirty="0" err="1"/>
            <a:t>Remoción</a:t>
          </a:r>
          <a:r>
            <a:rPr lang="en-US" b="0" i="0" dirty="0"/>
            <a:t> </a:t>
          </a:r>
          <a:r>
            <a:rPr lang="en-US" b="0" i="0" dirty="0" err="1"/>
            <a:t>Quimeras</a:t>
          </a:r>
          <a:r>
            <a:rPr lang="en-US" b="0" i="0" dirty="0"/>
            <a:t>    </a:t>
          </a:r>
          <a:r>
            <a:rPr lang="en-US" b="0" i="0" dirty="0" err="1"/>
            <a:t>removeBimeraDenovo</a:t>
          </a:r>
          <a:r>
            <a:rPr lang="en-US" b="0" i="0" dirty="0"/>
            <a:t>()</a:t>
          </a:r>
        </a:p>
      </dgm:t>
    </dgm:pt>
    <dgm:pt modelId="{479A9D41-7712-534E-8387-3F0281F45624}" type="parTrans" cxnId="{FDA19002-FA94-794D-9CF6-8D0255FBA918}">
      <dgm:prSet/>
      <dgm:spPr/>
      <dgm:t>
        <a:bodyPr/>
        <a:lstStyle/>
        <a:p>
          <a:endParaRPr lang="en-US"/>
        </a:p>
      </dgm:t>
    </dgm:pt>
    <dgm:pt modelId="{70BE50C7-D5C2-0D42-AF44-F802D7DC84F6}" type="sibTrans" cxnId="{FDA19002-FA94-794D-9CF6-8D0255FBA918}">
      <dgm:prSet/>
      <dgm:spPr/>
      <dgm:t>
        <a:bodyPr/>
        <a:lstStyle/>
        <a:p>
          <a:endParaRPr lang="en-US"/>
        </a:p>
      </dgm:t>
    </dgm:pt>
    <dgm:pt modelId="{5D61B92C-94A0-FF42-93C7-DCCEDADB4C21}">
      <dgm:prSet/>
      <dgm:spPr/>
      <dgm:t>
        <a:bodyPr/>
        <a:lstStyle/>
        <a:p>
          <a:pPr>
            <a:buNone/>
          </a:pPr>
          <a:r>
            <a:rPr lang="en-US" b="0" i="0" dirty="0"/>
            <a:t>8. </a:t>
          </a:r>
          <a:r>
            <a:rPr lang="en-US" b="0" i="0" dirty="0" err="1"/>
            <a:t>Asignación</a:t>
          </a:r>
          <a:r>
            <a:rPr lang="en-US" b="0" i="0" dirty="0"/>
            <a:t> </a:t>
          </a:r>
          <a:r>
            <a:rPr lang="en-US" b="0" i="0" dirty="0" err="1"/>
            <a:t>Taxonómica</a:t>
          </a:r>
          <a:r>
            <a:rPr lang="en-US" b="0" i="0" dirty="0"/>
            <a:t> </a:t>
          </a:r>
          <a:r>
            <a:rPr lang="en-US" b="0" i="0" dirty="0" err="1"/>
            <a:t>assignTaxonomy</a:t>
          </a:r>
          <a:r>
            <a:rPr lang="en-US" b="0" i="0" dirty="0"/>
            <a:t>()</a:t>
          </a:r>
        </a:p>
      </dgm:t>
    </dgm:pt>
    <dgm:pt modelId="{C84940E5-5030-A747-8BBF-33EAABD875E4}" type="parTrans" cxnId="{5A90A2A6-4024-F94E-87BE-FB5FCDCD5155}">
      <dgm:prSet/>
      <dgm:spPr/>
      <dgm:t>
        <a:bodyPr/>
        <a:lstStyle/>
        <a:p>
          <a:endParaRPr lang="en-US"/>
        </a:p>
      </dgm:t>
    </dgm:pt>
    <dgm:pt modelId="{F0004472-8A8A-4042-BA78-23DC0507271F}" type="sibTrans" cxnId="{5A90A2A6-4024-F94E-87BE-FB5FCDCD5155}">
      <dgm:prSet/>
      <dgm:spPr/>
      <dgm:t>
        <a:bodyPr/>
        <a:lstStyle/>
        <a:p>
          <a:endParaRPr lang="en-US"/>
        </a:p>
      </dgm:t>
    </dgm:pt>
    <dgm:pt modelId="{60488E38-DC3D-4548-983A-18189AEB5946}">
      <dgm:prSet/>
      <dgm:spPr/>
      <dgm:t>
        <a:bodyPr/>
        <a:lstStyle/>
        <a:p>
          <a:pPr>
            <a:buNone/>
          </a:pPr>
          <a:r>
            <a:rPr lang="en-US" b="0" i="0" dirty="0" err="1"/>
            <a:t>Resultados</a:t>
          </a:r>
          <a:r>
            <a:rPr lang="en-US" b="0" i="0" dirty="0"/>
            <a:t> Finales</a:t>
          </a:r>
        </a:p>
      </dgm:t>
    </dgm:pt>
    <dgm:pt modelId="{A3803100-93CD-634D-923F-D8818DF7B298}" type="parTrans" cxnId="{3B042813-D75D-3C49-89D3-A34B28A0CD67}">
      <dgm:prSet/>
      <dgm:spPr/>
      <dgm:t>
        <a:bodyPr/>
        <a:lstStyle/>
        <a:p>
          <a:endParaRPr lang="en-US"/>
        </a:p>
      </dgm:t>
    </dgm:pt>
    <dgm:pt modelId="{6227962F-4362-DA41-8935-7C8666639D02}" type="sibTrans" cxnId="{3B042813-D75D-3C49-89D3-A34B28A0CD67}">
      <dgm:prSet/>
      <dgm:spPr/>
      <dgm:t>
        <a:bodyPr/>
        <a:lstStyle/>
        <a:p>
          <a:endParaRPr lang="en-US"/>
        </a:p>
      </dgm:t>
    </dgm:pt>
    <dgm:pt modelId="{BFFE289C-8373-4A4C-A450-931A8BB70DEF}">
      <dgm:prSet/>
      <dgm:spPr/>
      <dgm:t>
        <a:bodyPr/>
        <a:lstStyle/>
        <a:p>
          <a:pPr>
            <a:buNone/>
          </a:pPr>
          <a:r>
            <a:rPr lang="en-US" b="0" i="0" dirty="0"/>
            <a:t>6. </a:t>
          </a:r>
          <a:r>
            <a:rPr lang="en-US" b="0" i="0" dirty="0" err="1"/>
            <a:t>Tabla</a:t>
          </a:r>
          <a:r>
            <a:rPr lang="en-US" b="0" i="0" dirty="0"/>
            <a:t> de </a:t>
          </a:r>
          <a:r>
            <a:rPr lang="en-US" b="0" i="0" dirty="0" err="1"/>
            <a:t>Secuencias</a:t>
          </a:r>
          <a:r>
            <a:rPr lang="en-US" b="0" i="0" dirty="0"/>
            <a:t>   </a:t>
          </a:r>
          <a:r>
            <a:rPr lang="en-US" b="0" i="0" dirty="0" err="1"/>
            <a:t>makeSequenceTable</a:t>
          </a:r>
          <a:r>
            <a:rPr lang="en-US" b="0" i="0" dirty="0"/>
            <a:t>()</a:t>
          </a:r>
        </a:p>
      </dgm:t>
    </dgm:pt>
    <dgm:pt modelId="{932048AA-C337-B847-84C1-14556C321FA8}" type="parTrans" cxnId="{B09DA29D-E9FE-4945-B573-E76A7649309E}">
      <dgm:prSet/>
      <dgm:spPr/>
      <dgm:t>
        <a:bodyPr/>
        <a:lstStyle/>
        <a:p>
          <a:endParaRPr lang="en-US"/>
        </a:p>
      </dgm:t>
    </dgm:pt>
    <dgm:pt modelId="{905D5FBE-1F7C-F34A-8435-2BE2B38785E5}" type="sibTrans" cxnId="{B09DA29D-E9FE-4945-B573-E76A7649309E}">
      <dgm:prSet/>
      <dgm:spPr/>
      <dgm:t>
        <a:bodyPr/>
        <a:lstStyle/>
        <a:p>
          <a:endParaRPr lang="en-US"/>
        </a:p>
      </dgm:t>
    </dgm:pt>
    <dgm:pt modelId="{28D6AA86-3697-BF4C-8B28-22C274DF543D}" type="pres">
      <dgm:prSet presAssocID="{40DDDD69-20F5-754A-A4DD-43627B576B39}" presName="Name0" presStyleCnt="0">
        <dgm:presLayoutVars>
          <dgm:dir/>
          <dgm:resizeHandles val="exact"/>
        </dgm:presLayoutVars>
      </dgm:prSet>
      <dgm:spPr/>
    </dgm:pt>
    <dgm:pt modelId="{8E580BE0-C108-D248-8605-C9F2C41281C7}" type="pres">
      <dgm:prSet presAssocID="{A9DDB18D-C2E0-6F48-902C-472C0B3DCEDB}" presName="node" presStyleLbl="node1" presStyleIdx="0" presStyleCnt="10">
        <dgm:presLayoutVars>
          <dgm:bulletEnabled val="1"/>
        </dgm:presLayoutVars>
      </dgm:prSet>
      <dgm:spPr/>
    </dgm:pt>
    <dgm:pt modelId="{47DED397-96E5-114D-A629-C81A8684693F}" type="pres">
      <dgm:prSet presAssocID="{5B2CC2BA-323B-F542-8EDD-814353CAB97B}" presName="sibTrans" presStyleLbl="sibTrans1D1" presStyleIdx="0" presStyleCnt="9"/>
      <dgm:spPr/>
    </dgm:pt>
    <dgm:pt modelId="{D0C7EF77-D50D-D544-AFF6-E32F1FC48803}" type="pres">
      <dgm:prSet presAssocID="{5B2CC2BA-323B-F542-8EDD-814353CAB97B}" presName="connectorText" presStyleLbl="sibTrans1D1" presStyleIdx="0" presStyleCnt="9"/>
      <dgm:spPr/>
    </dgm:pt>
    <dgm:pt modelId="{95259199-875D-C645-ADF8-CA9C431A3704}" type="pres">
      <dgm:prSet presAssocID="{594CD5FB-ACDF-6540-891F-EE6A2E616234}" presName="node" presStyleLbl="node1" presStyleIdx="1" presStyleCnt="10">
        <dgm:presLayoutVars>
          <dgm:bulletEnabled val="1"/>
        </dgm:presLayoutVars>
      </dgm:prSet>
      <dgm:spPr/>
    </dgm:pt>
    <dgm:pt modelId="{640C37BB-1683-2040-B24E-C1DE018E7226}" type="pres">
      <dgm:prSet presAssocID="{8C065FE9-7C12-EA48-A377-C840D021224A}" presName="sibTrans" presStyleLbl="sibTrans1D1" presStyleIdx="1" presStyleCnt="9"/>
      <dgm:spPr/>
    </dgm:pt>
    <dgm:pt modelId="{B6451558-2C60-7B48-9BA9-47AF74097B85}" type="pres">
      <dgm:prSet presAssocID="{8C065FE9-7C12-EA48-A377-C840D021224A}" presName="connectorText" presStyleLbl="sibTrans1D1" presStyleIdx="1" presStyleCnt="9"/>
      <dgm:spPr/>
    </dgm:pt>
    <dgm:pt modelId="{B2CA2C4D-3291-CB42-853B-1781669B8C37}" type="pres">
      <dgm:prSet presAssocID="{91F4A22C-18D3-A046-8EB7-976702542B1A}" presName="node" presStyleLbl="node1" presStyleIdx="2" presStyleCnt="10">
        <dgm:presLayoutVars>
          <dgm:bulletEnabled val="1"/>
        </dgm:presLayoutVars>
      </dgm:prSet>
      <dgm:spPr/>
    </dgm:pt>
    <dgm:pt modelId="{EC7AD761-12B4-E94C-8B29-6054EF65D1FB}" type="pres">
      <dgm:prSet presAssocID="{75D5EF4C-2349-6C43-8160-97229F391645}" presName="sibTrans" presStyleLbl="sibTrans1D1" presStyleIdx="2" presStyleCnt="9"/>
      <dgm:spPr/>
    </dgm:pt>
    <dgm:pt modelId="{8FF35C2B-1308-A945-B6CB-0F72A439414E}" type="pres">
      <dgm:prSet presAssocID="{75D5EF4C-2349-6C43-8160-97229F391645}" presName="connectorText" presStyleLbl="sibTrans1D1" presStyleIdx="2" presStyleCnt="9"/>
      <dgm:spPr/>
    </dgm:pt>
    <dgm:pt modelId="{DB8E86BF-881A-AE49-BE43-D6C40D1A9AB6}" type="pres">
      <dgm:prSet presAssocID="{06BEA6C3-DEC2-8A47-9C57-FEDA8E0C7B7C}" presName="node" presStyleLbl="node1" presStyleIdx="3" presStyleCnt="10">
        <dgm:presLayoutVars>
          <dgm:bulletEnabled val="1"/>
        </dgm:presLayoutVars>
      </dgm:prSet>
      <dgm:spPr/>
    </dgm:pt>
    <dgm:pt modelId="{D12D3D5A-224A-8E49-8DD7-16627D50135F}" type="pres">
      <dgm:prSet presAssocID="{B8A1521F-B004-084D-9CB3-BD59AC102A31}" presName="sibTrans" presStyleLbl="sibTrans1D1" presStyleIdx="3" presStyleCnt="9"/>
      <dgm:spPr/>
    </dgm:pt>
    <dgm:pt modelId="{64B27546-6EA1-2949-B0C7-FFDF17C5F2A8}" type="pres">
      <dgm:prSet presAssocID="{B8A1521F-B004-084D-9CB3-BD59AC102A31}" presName="connectorText" presStyleLbl="sibTrans1D1" presStyleIdx="3" presStyleCnt="9"/>
      <dgm:spPr/>
    </dgm:pt>
    <dgm:pt modelId="{0D828B9B-1707-0349-8168-E76CB9E50707}" type="pres">
      <dgm:prSet presAssocID="{82D61FCA-BC55-ED4D-BA88-1EC7B5A8BC06}" presName="node" presStyleLbl="node1" presStyleIdx="4" presStyleCnt="10">
        <dgm:presLayoutVars>
          <dgm:bulletEnabled val="1"/>
        </dgm:presLayoutVars>
      </dgm:prSet>
      <dgm:spPr/>
    </dgm:pt>
    <dgm:pt modelId="{661680D4-7804-B744-AF44-5722DE891B1F}" type="pres">
      <dgm:prSet presAssocID="{6BFF4069-63D9-AE4A-8444-F7D0FD6FD2C3}" presName="sibTrans" presStyleLbl="sibTrans1D1" presStyleIdx="4" presStyleCnt="9"/>
      <dgm:spPr/>
    </dgm:pt>
    <dgm:pt modelId="{09A1DBB6-CAC0-744C-B14F-6455DB625574}" type="pres">
      <dgm:prSet presAssocID="{6BFF4069-63D9-AE4A-8444-F7D0FD6FD2C3}" presName="connectorText" presStyleLbl="sibTrans1D1" presStyleIdx="4" presStyleCnt="9"/>
      <dgm:spPr/>
    </dgm:pt>
    <dgm:pt modelId="{4A0DE67F-FA39-2042-9EC7-A48ABC4C9F74}" type="pres">
      <dgm:prSet presAssocID="{D380D270-34BC-F64F-B72C-0CAE0BACEDEC}" presName="node" presStyleLbl="node1" presStyleIdx="5" presStyleCnt="10">
        <dgm:presLayoutVars>
          <dgm:bulletEnabled val="1"/>
        </dgm:presLayoutVars>
      </dgm:prSet>
      <dgm:spPr/>
    </dgm:pt>
    <dgm:pt modelId="{6334E31D-1BB6-F649-9D7C-8FE4DFCABA89}" type="pres">
      <dgm:prSet presAssocID="{2AA3F17B-7F8D-A646-9908-A36E66A4E5D5}" presName="sibTrans" presStyleLbl="sibTrans1D1" presStyleIdx="5" presStyleCnt="9"/>
      <dgm:spPr/>
    </dgm:pt>
    <dgm:pt modelId="{52ED8E8B-B8BA-7043-BA98-644032A374FB}" type="pres">
      <dgm:prSet presAssocID="{2AA3F17B-7F8D-A646-9908-A36E66A4E5D5}" presName="connectorText" presStyleLbl="sibTrans1D1" presStyleIdx="5" presStyleCnt="9"/>
      <dgm:spPr/>
    </dgm:pt>
    <dgm:pt modelId="{7CD616E8-D95A-5746-BFA7-5E1E79B393C9}" type="pres">
      <dgm:prSet presAssocID="{BFFE289C-8373-4A4C-A450-931A8BB70DEF}" presName="node" presStyleLbl="node1" presStyleIdx="6" presStyleCnt="10">
        <dgm:presLayoutVars>
          <dgm:bulletEnabled val="1"/>
        </dgm:presLayoutVars>
      </dgm:prSet>
      <dgm:spPr/>
    </dgm:pt>
    <dgm:pt modelId="{362B26C8-08F3-FA4D-809B-53EF0EFBD175}" type="pres">
      <dgm:prSet presAssocID="{905D5FBE-1F7C-F34A-8435-2BE2B38785E5}" presName="sibTrans" presStyleLbl="sibTrans1D1" presStyleIdx="6" presStyleCnt="9"/>
      <dgm:spPr/>
    </dgm:pt>
    <dgm:pt modelId="{5B36C142-9EEF-E443-A1EA-CB3B39D479F4}" type="pres">
      <dgm:prSet presAssocID="{905D5FBE-1F7C-F34A-8435-2BE2B38785E5}" presName="connectorText" presStyleLbl="sibTrans1D1" presStyleIdx="6" presStyleCnt="9"/>
      <dgm:spPr/>
    </dgm:pt>
    <dgm:pt modelId="{84F97104-F965-EA44-A8DC-BC23C8A933C3}" type="pres">
      <dgm:prSet presAssocID="{E2657004-EE72-1248-8886-28A672D85E9E}" presName="node" presStyleLbl="node1" presStyleIdx="7" presStyleCnt="10">
        <dgm:presLayoutVars>
          <dgm:bulletEnabled val="1"/>
        </dgm:presLayoutVars>
      </dgm:prSet>
      <dgm:spPr/>
    </dgm:pt>
    <dgm:pt modelId="{A23582AE-F6B6-CC46-A6FB-42D2B7236904}" type="pres">
      <dgm:prSet presAssocID="{70BE50C7-D5C2-0D42-AF44-F802D7DC84F6}" presName="sibTrans" presStyleLbl="sibTrans1D1" presStyleIdx="7" presStyleCnt="9"/>
      <dgm:spPr/>
    </dgm:pt>
    <dgm:pt modelId="{07030091-355F-E646-9A14-598F08F017B4}" type="pres">
      <dgm:prSet presAssocID="{70BE50C7-D5C2-0D42-AF44-F802D7DC84F6}" presName="connectorText" presStyleLbl="sibTrans1D1" presStyleIdx="7" presStyleCnt="9"/>
      <dgm:spPr/>
    </dgm:pt>
    <dgm:pt modelId="{96974775-652E-3243-A214-915D68DA2CF9}" type="pres">
      <dgm:prSet presAssocID="{5D61B92C-94A0-FF42-93C7-DCCEDADB4C21}" presName="node" presStyleLbl="node1" presStyleIdx="8" presStyleCnt="10">
        <dgm:presLayoutVars>
          <dgm:bulletEnabled val="1"/>
        </dgm:presLayoutVars>
      </dgm:prSet>
      <dgm:spPr/>
    </dgm:pt>
    <dgm:pt modelId="{CA07C5D5-88B4-184F-A394-2305CE036DA7}" type="pres">
      <dgm:prSet presAssocID="{F0004472-8A8A-4042-BA78-23DC0507271F}" presName="sibTrans" presStyleLbl="sibTrans1D1" presStyleIdx="8" presStyleCnt="9"/>
      <dgm:spPr/>
    </dgm:pt>
    <dgm:pt modelId="{052BCE76-9A23-4C40-B900-68704B9F0334}" type="pres">
      <dgm:prSet presAssocID="{F0004472-8A8A-4042-BA78-23DC0507271F}" presName="connectorText" presStyleLbl="sibTrans1D1" presStyleIdx="8" presStyleCnt="9"/>
      <dgm:spPr/>
    </dgm:pt>
    <dgm:pt modelId="{C88E6AA3-E786-E546-BDFD-697BF414ADD5}" type="pres">
      <dgm:prSet presAssocID="{60488E38-DC3D-4548-983A-18189AEB5946}" presName="node" presStyleLbl="node1" presStyleIdx="9" presStyleCnt="10">
        <dgm:presLayoutVars>
          <dgm:bulletEnabled val="1"/>
        </dgm:presLayoutVars>
      </dgm:prSet>
      <dgm:spPr/>
    </dgm:pt>
  </dgm:ptLst>
  <dgm:cxnLst>
    <dgm:cxn modelId="{FDA19002-FA94-794D-9CF6-8D0255FBA918}" srcId="{40DDDD69-20F5-754A-A4DD-43627B576B39}" destId="{E2657004-EE72-1248-8886-28A672D85E9E}" srcOrd="7" destOrd="0" parTransId="{479A9D41-7712-534E-8387-3F0281F45624}" sibTransId="{70BE50C7-D5C2-0D42-AF44-F802D7DC84F6}"/>
    <dgm:cxn modelId="{D8BAC103-6BF4-5B4F-8882-F98BB506C53F}" type="presOf" srcId="{F0004472-8A8A-4042-BA78-23DC0507271F}" destId="{CA07C5D5-88B4-184F-A394-2305CE036DA7}" srcOrd="0" destOrd="0" presId="urn:microsoft.com/office/officeart/2005/8/layout/bProcess3"/>
    <dgm:cxn modelId="{DAC25708-CE54-AE48-8F43-9C071540A1E0}" type="presOf" srcId="{905D5FBE-1F7C-F34A-8435-2BE2B38785E5}" destId="{362B26C8-08F3-FA4D-809B-53EF0EFBD175}" srcOrd="0" destOrd="0" presId="urn:microsoft.com/office/officeart/2005/8/layout/bProcess3"/>
    <dgm:cxn modelId="{B431DE0F-2B49-624B-A0C3-5AC8130391EB}" type="presOf" srcId="{06BEA6C3-DEC2-8A47-9C57-FEDA8E0C7B7C}" destId="{DB8E86BF-881A-AE49-BE43-D6C40D1A9AB6}" srcOrd="0" destOrd="0" presId="urn:microsoft.com/office/officeart/2005/8/layout/bProcess3"/>
    <dgm:cxn modelId="{9BB16112-8551-B348-ACD0-AB7E440DA3B2}" srcId="{40DDDD69-20F5-754A-A4DD-43627B576B39}" destId="{82D61FCA-BC55-ED4D-BA88-1EC7B5A8BC06}" srcOrd="4" destOrd="0" parTransId="{D067D45C-6083-DA4F-B4AA-2F8CD505D1AF}" sibTransId="{6BFF4069-63D9-AE4A-8444-F7D0FD6FD2C3}"/>
    <dgm:cxn modelId="{3B042813-D75D-3C49-89D3-A34B28A0CD67}" srcId="{40DDDD69-20F5-754A-A4DD-43627B576B39}" destId="{60488E38-DC3D-4548-983A-18189AEB5946}" srcOrd="9" destOrd="0" parTransId="{A3803100-93CD-634D-923F-D8818DF7B298}" sibTransId="{6227962F-4362-DA41-8935-7C8666639D02}"/>
    <dgm:cxn modelId="{B2C10F16-5FE8-1A4F-93ED-C08156429A6E}" type="presOf" srcId="{B8A1521F-B004-084D-9CB3-BD59AC102A31}" destId="{64B27546-6EA1-2949-B0C7-FFDF17C5F2A8}" srcOrd="1" destOrd="0" presId="urn:microsoft.com/office/officeart/2005/8/layout/bProcess3"/>
    <dgm:cxn modelId="{59998C1A-EEF2-5844-AD26-9C6193D363C0}" srcId="{40DDDD69-20F5-754A-A4DD-43627B576B39}" destId="{594CD5FB-ACDF-6540-891F-EE6A2E616234}" srcOrd="1" destOrd="0" parTransId="{CC9C2E65-F12F-5847-99D8-7BE73780ADCF}" sibTransId="{8C065FE9-7C12-EA48-A377-C840D021224A}"/>
    <dgm:cxn modelId="{9BDB9521-B414-6642-ABB9-28DD3D435008}" type="presOf" srcId="{2AA3F17B-7F8D-A646-9908-A36E66A4E5D5}" destId="{6334E31D-1BB6-F649-9D7C-8FE4DFCABA89}" srcOrd="0" destOrd="0" presId="urn:microsoft.com/office/officeart/2005/8/layout/bProcess3"/>
    <dgm:cxn modelId="{76144931-A8CF-3B40-95A3-0506E042F877}" type="presOf" srcId="{82D61FCA-BC55-ED4D-BA88-1EC7B5A8BC06}" destId="{0D828B9B-1707-0349-8168-E76CB9E50707}" srcOrd="0" destOrd="0" presId="urn:microsoft.com/office/officeart/2005/8/layout/bProcess3"/>
    <dgm:cxn modelId="{59C0D93D-EA48-164F-93E4-A49B46B6FEC9}" type="presOf" srcId="{75D5EF4C-2349-6C43-8160-97229F391645}" destId="{8FF35C2B-1308-A945-B6CB-0F72A439414E}" srcOrd="1" destOrd="0" presId="urn:microsoft.com/office/officeart/2005/8/layout/bProcess3"/>
    <dgm:cxn modelId="{2DFE5D3E-5837-5645-A617-E095EFE61512}" type="presOf" srcId="{60488E38-DC3D-4548-983A-18189AEB5946}" destId="{C88E6AA3-E786-E546-BDFD-697BF414ADD5}" srcOrd="0" destOrd="0" presId="urn:microsoft.com/office/officeart/2005/8/layout/bProcess3"/>
    <dgm:cxn modelId="{9DE5D942-03B0-8E4E-BF3A-59CBBD6B9E4F}" type="presOf" srcId="{5B2CC2BA-323B-F542-8EDD-814353CAB97B}" destId="{D0C7EF77-D50D-D544-AFF6-E32F1FC48803}" srcOrd="1" destOrd="0" presId="urn:microsoft.com/office/officeart/2005/8/layout/bProcess3"/>
    <dgm:cxn modelId="{BC03BC43-5F60-C348-A807-A5DD3E171DFC}" type="presOf" srcId="{70BE50C7-D5C2-0D42-AF44-F802D7DC84F6}" destId="{A23582AE-F6B6-CC46-A6FB-42D2B7236904}" srcOrd="0" destOrd="0" presId="urn:microsoft.com/office/officeart/2005/8/layout/bProcess3"/>
    <dgm:cxn modelId="{F2E72545-9ED1-4543-998C-5E5E0630B1C4}" type="presOf" srcId="{70BE50C7-D5C2-0D42-AF44-F802D7DC84F6}" destId="{07030091-355F-E646-9A14-598F08F017B4}" srcOrd="1" destOrd="0" presId="urn:microsoft.com/office/officeart/2005/8/layout/bProcess3"/>
    <dgm:cxn modelId="{BBAA464D-0D54-C249-81B8-145C8413CC29}" type="presOf" srcId="{75D5EF4C-2349-6C43-8160-97229F391645}" destId="{EC7AD761-12B4-E94C-8B29-6054EF65D1FB}" srcOrd="0" destOrd="0" presId="urn:microsoft.com/office/officeart/2005/8/layout/bProcess3"/>
    <dgm:cxn modelId="{F7151A55-008E-F94B-8F10-3604D4017E51}" type="presOf" srcId="{B8A1521F-B004-084D-9CB3-BD59AC102A31}" destId="{D12D3D5A-224A-8E49-8DD7-16627D50135F}" srcOrd="0" destOrd="0" presId="urn:microsoft.com/office/officeart/2005/8/layout/bProcess3"/>
    <dgm:cxn modelId="{D5AE5F61-7941-3648-B951-C55EF301705F}" type="presOf" srcId="{5D61B92C-94A0-FF42-93C7-DCCEDADB4C21}" destId="{96974775-652E-3243-A214-915D68DA2CF9}" srcOrd="0" destOrd="0" presId="urn:microsoft.com/office/officeart/2005/8/layout/bProcess3"/>
    <dgm:cxn modelId="{6E0FE76A-48D4-404F-97D8-58E61DF44158}" type="presOf" srcId="{BFFE289C-8373-4A4C-A450-931A8BB70DEF}" destId="{7CD616E8-D95A-5746-BFA7-5E1E79B393C9}" srcOrd="0" destOrd="0" presId="urn:microsoft.com/office/officeart/2005/8/layout/bProcess3"/>
    <dgm:cxn modelId="{6EF2006C-8634-E94C-92D1-E311C1C54198}" type="presOf" srcId="{E2657004-EE72-1248-8886-28A672D85E9E}" destId="{84F97104-F965-EA44-A8DC-BC23C8A933C3}" srcOrd="0" destOrd="0" presId="urn:microsoft.com/office/officeart/2005/8/layout/bProcess3"/>
    <dgm:cxn modelId="{2C91CA73-9C9D-B146-BEE9-92EC38F9FE07}" type="presOf" srcId="{D380D270-34BC-F64F-B72C-0CAE0BACEDEC}" destId="{4A0DE67F-FA39-2042-9EC7-A48ABC4C9F74}" srcOrd="0" destOrd="0" presId="urn:microsoft.com/office/officeart/2005/8/layout/bProcess3"/>
    <dgm:cxn modelId="{1B555F7B-3BDE-8245-91E8-92FF60B877E0}" type="presOf" srcId="{5B2CC2BA-323B-F542-8EDD-814353CAB97B}" destId="{47DED397-96E5-114D-A629-C81A8684693F}" srcOrd="0" destOrd="0" presId="urn:microsoft.com/office/officeart/2005/8/layout/bProcess3"/>
    <dgm:cxn modelId="{14D2957D-761D-C343-8CBD-96B3EA301EC6}" srcId="{40DDDD69-20F5-754A-A4DD-43627B576B39}" destId="{D380D270-34BC-F64F-B72C-0CAE0BACEDEC}" srcOrd="5" destOrd="0" parTransId="{5D329F09-A1B8-B945-B50F-701864379B3C}" sibTransId="{2AA3F17B-7F8D-A646-9908-A36E66A4E5D5}"/>
    <dgm:cxn modelId="{C597BD82-8174-2548-BA66-725BE263B479}" type="presOf" srcId="{905D5FBE-1F7C-F34A-8435-2BE2B38785E5}" destId="{5B36C142-9EEF-E443-A1EA-CB3B39D479F4}" srcOrd="1" destOrd="0" presId="urn:microsoft.com/office/officeart/2005/8/layout/bProcess3"/>
    <dgm:cxn modelId="{136DB585-1CF4-1A4B-9448-41F93D846615}" type="presOf" srcId="{2AA3F17B-7F8D-A646-9908-A36E66A4E5D5}" destId="{52ED8E8B-B8BA-7043-BA98-644032A374FB}" srcOrd="1" destOrd="0" presId="urn:microsoft.com/office/officeart/2005/8/layout/bProcess3"/>
    <dgm:cxn modelId="{BF657989-1E8B-394B-B675-2F20D38AC605}" type="presOf" srcId="{594CD5FB-ACDF-6540-891F-EE6A2E616234}" destId="{95259199-875D-C645-ADF8-CA9C431A3704}" srcOrd="0" destOrd="0" presId="urn:microsoft.com/office/officeart/2005/8/layout/bProcess3"/>
    <dgm:cxn modelId="{AC2B3094-420F-9149-80FD-9AEF74326A62}" srcId="{40DDDD69-20F5-754A-A4DD-43627B576B39}" destId="{06BEA6C3-DEC2-8A47-9C57-FEDA8E0C7B7C}" srcOrd="3" destOrd="0" parTransId="{5B36F816-DE11-6E46-849C-610BF56ADB59}" sibTransId="{B8A1521F-B004-084D-9CB3-BD59AC102A31}"/>
    <dgm:cxn modelId="{3406F29B-5199-604C-B44C-5A4FB5124D4B}" type="presOf" srcId="{F0004472-8A8A-4042-BA78-23DC0507271F}" destId="{052BCE76-9A23-4C40-B900-68704B9F0334}" srcOrd="1" destOrd="0" presId="urn:microsoft.com/office/officeart/2005/8/layout/bProcess3"/>
    <dgm:cxn modelId="{B09DA29D-E9FE-4945-B573-E76A7649309E}" srcId="{40DDDD69-20F5-754A-A4DD-43627B576B39}" destId="{BFFE289C-8373-4A4C-A450-931A8BB70DEF}" srcOrd="6" destOrd="0" parTransId="{932048AA-C337-B847-84C1-14556C321FA8}" sibTransId="{905D5FBE-1F7C-F34A-8435-2BE2B38785E5}"/>
    <dgm:cxn modelId="{5A90A2A6-4024-F94E-87BE-FB5FCDCD5155}" srcId="{40DDDD69-20F5-754A-A4DD-43627B576B39}" destId="{5D61B92C-94A0-FF42-93C7-DCCEDADB4C21}" srcOrd="8" destOrd="0" parTransId="{C84940E5-5030-A747-8BBF-33EAABD875E4}" sibTransId="{F0004472-8A8A-4042-BA78-23DC0507271F}"/>
    <dgm:cxn modelId="{EA1B2BAB-5EED-744E-9A13-EE2864605C5C}" type="presOf" srcId="{40DDDD69-20F5-754A-A4DD-43627B576B39}" destId="{28D6AA86-3697-BF4C-8B28-22C274DF543D}" srcOrd="0" destOrd="0" presId="urn:microsoft.com/office/officeart/2005/8/layout/bProcess3"/>
    <dgm:cxn modelId="{E2C7CAB7-61EC-564B-BC6F-7AC3DC59A247}" type="presOf" srcId="{6BFF4069-63D9-AE4A-8444-F7D0FD6FD2C3}" destId="{661680D4-7804-B744-AF44-5722DE891B1F}" srcOrd="0" destOrd="0" presId="urn:microsoft.com/office/officeart/2005/8/layout/bProcess3"/>
    <dgm:cxn modelId="{437958C6-24F7-D545-905A-950EF69FF92A}" srcId="{40DDDD69-20F5-754A-A4DD-43627B576B39}" destId="{91F4A22C-18D3-A046-8EB7-976702542B1A}" srcOrd="2" destOrd="0" parTransId="{94F641EB-A279-D640-A8FD-60B202FC240B}" sibTransId="{75D5EF4C-2349-6C43-8160-97229F391645}"/>
    <dgm:cxn modelId="{26AE0DCC-561E-2449-BC1B-6AEBD9CFB325}" type="presOf" srcId="{A9DDB18D-C2E0-6F48-902C-472C0B3DCEDB}" destId="{8E580BE0-C108-D248-8605-C9F2C41281C7}" srcOrd="0" destOrd="0" presId="urn:microsoft.com/office/officeart/2005/8/layout/bProcess3"/>
    <dgm:cxn modelId="{1BC2E3D1-F5D8-DC40-9694-E429F0E375E4}" srcId="{40DDDD69-20F5-754A-A4DD-43627B576B39}" destId="{A9DDB18D-C2E0-6F48-902C-472C0B3DCEDB}" srcOrd="0" destOrd="0" parTransId="{6C5CF1E3-EA16-1349-954B-3B4216B20E89}" sibTransId="{5B2CC2BA-323B-F542-8EDD-814353CAB97B}"/>
    <dgm:cxn modelId="{B61DE1DA-C4E5-7A4C-892D-B1E3070648C5}" type="presOf" srcId="{91F4A22C-18D3-A046-8EB7-976702542B1A}" destId="{B2CA2C4D-3291-CB42-853B-1781669B8C37}" srcOrd="0" destOrd="0" presId="urn:microsoft.com/office/officeart/2005/8/layout/bProcess3"/>
    <dgm:cxn modelId="{4385A7DC-A8F3-AC49-B21D-A1DAA9BD6ED2}" type="presOf" srcId="{8C065FE9-7C12-EA48-A377-C840D021224A}" destId="{B6451558-2C60-7B48-9BA9-47AF74097B85}" srcOrd="1" destOrd="0" presId="urn:microsoft.com/office/officeart/2005/8/layout/bProcess3"/>
    <dgm:cxn modelId="{9BA4AFEF-A429-024E-BA9A-11BB78C3C4A6}" type="presOf" srcId="{8C065FE9-7C12-EA48-A377-C840D021224A}" destId="{640C37BB-1683-2040-B24E-C1DE018E7226}" srcOrd="0" destOrd="0" presId="urn:microsoft.com/office/officeart/2005/8/layout/bProcess3"/>
    <dgm:cxn modelId="{1AB988F2-8388-824D-9969-56F31B3A8E89}" type="presOf" srcId="{6BFF4069-63D9-AE4A-8444-F7D0FD6FD2C3}" destId="{09A1DBB6-CAC0-744C-B14F-6455DB625574}" srcOrd="1" destOrd="0" presId="urn:microsoft.com/office/officeart/2005/8/layout/bProcess3"/>
    <dgm:cxn modelId="{71422123-8C1F-7547-BC18-0BAB64E03F2D}" type="presParOf" srcId="{28D6AA86-3697-BF4C-8B28-22C274DF543D}" destId="{8E580BE0-C108-D248-8605-C9F2C41281C7}" srcOrd="0" destOrd="0" presId="urn:microsoft.com/office/officeart/2005/8/layout/bProcess3"/>
    <dgm:cxn modelId="{BAD66D1E-B162-6A46-B4AE-F822D0CC2E89}" type="presParOf" srcId="{28D6AA86-3697-BF4C-8B28-22C274DF543D}" destId="{47DED397-96E5-114D-A629-C81A8684693F}" srcOrd="1" destOrd="0" presId="urn:microsoft.com/office/officeart/2005/8/layout/bProcess3"/>
    <dgm:cxn modelId="{56FECD85-4500-D849-B4CA-FD170E36CA48}" type="presParOf" srcId="{47DED397-96E5-114D-A629-C81A8684693F}" destId="{D0C7EF77-D50D-D544-AFF6-E32F1FC48803}" srcOrd="0" destOrd="0" presId="urn:microsoft.com/office/officeart/2005/8/layout/bProcess3"/>
    <dgm:cxn modelId="{99952E3A-EEE7-EE49-A985-1CFE7CFAE928}" type="presParOf" srcId="{28D6AA86-3697-BF4C-8B28-22C274DF543D}" destId="{95259199-875D-C645-ADF8-CA9C431A3704}" srcOrd="2" destOrd="0" presId="urn:microsoft.com/office/officeart/2005/8/layout/bProcess3"/>
    <dgm:cxn modelId="{37319E78-971E-ED4D-BBD2-4B8EE3CCE6B1}" type="presParOf" srcId="{28D6AA86-3697-BF4C-8B28-22C274DF543D}" destId="{640C37BB-1683-2040-B24E-C1DE018E7226}" srcOrd="3" destOrd="0" presId="urn:microsoft.com/office/officeart/2005/8/layout/bProcess3"/>
    <dgm:cxn modelId="{F323B696-5820-1B4A-BBEE-573DCDAFD386}" type="presParOf" srcId="{640C37BB-1683-2040-B24E-C1DE018E7226}" destId="{B6451558-2C60-7B48-9BA9-47AF74097B85}" srcOrd="0" destOrd="0" presId="urn:microsoft.com/office/officeart/2005/8/layout/bProcess3"/>
    <dgm:cxn modelId="{E9614C8F-81AB-C94E-9940-1FF4C784326E}" type="presParOf" srcId="{28D6AA86-3697-BF4C-8B28-22C274DF543D}" destId="{B2CA2C4D-3291-CB42-853B-1781669B8C37}" srcOrd="4" destOrd="0" presId="urn:microsoft.com/office/officeart/2005/8/layout/bProcess3"/>
    <dgm:cxn modelId="{9E60B723-FF66-4F46-803C-9A61702B76FF}" type="presParOf" srcId="{28D6AA86-3697-BF4C-8B28-22C274DF543D}" destId="{EC7AD761-12B4-E94C-8B29-6054EF65D1FB}" srcOrd="5" destOrd="0" presId="urn:microsoft.com/office/officeart/2005/8/layout/bProcess3"/>
    <dgm:cxn modelId="{BCC50CD6-12FB-3C41-BD7D-5792E3ED84A1}" type="presParOf" srcId="{EC7AD761-12B4-E94C-8B29-6054EF65D1FB}" destId="{8FF35C2B-1308-A945-B6CB-0F72A439414E}" srcOrd="0" destOrd="0" presId="urn:microsoft.com/office/officeart/2005/8/layout/bProcess3"/>
    <dgm:cxn modelId="{DF9EC5C9-DE66-A044-921E-414936516403}" type="presParOf" srcId="{28D6AA86-3697-BF4C-8B28-22C274DF543D}" destId="{DB8E86BF-881A-AE49-BE43-D6C40D1A9AB6}" srcOrd="6" destOrd="0" presId="urn:microsoft.com/office/officeart/2005/8/layout/bProcess3"/>
    <dgm:cxn modelId="{73C25086-1418-BA4A-B81D-E6857826C1CA}" type="presParOf" srcId="{28D6AA86-3697-BF4C-8B28-22C274DF543D}" destId="{D12D3D5A-224A-8E49-8DD7-16627D50135F}" srcOrd="7" destOrd="0" presId="urn:microsoft.com/office/officeart/2005/8/layout/bProcess3"/>
    <dgm:cxn modelId="{4D23C891-A02B-1641-A8B6-8100B0A9A482}" type="presParOf" srcId="{D12D3D5A-224A-8E49-8DD7-16627D50135F}" destId="{64B27546-6EA1-2949-B0C7-FFDF17C5F2A8}" srcOrd="0" destOrd="0" presId="urn:microsoft.com/office/officeart/2005/8/layout/bProcess3"/>
    <dgm:cxn modelId="{A0C5548B-E6AF-2646-9295-0BAD08651B64}" type="presParOf" srcId="{28D6AA86-3697-BF4C-8B28-22C274DF543D}" destId="{0D828B9B-1707-0349-8168-E76CB9E50707}" srcOrd="8" destOrd="0" presId="urn:microsoft.com/office/officeart/2005/8/layout/bProcess3"/>
    <dgm:cxn modelId="{A155D7A6-6B5C-CC4C-901B-4A3BD91C54AC}" type="presParOf" srcId="{28D6AA86-3697-BF4C-8B28-22C274DF543D}" destId="{661680D4-7804-B744-AF44-5722DE891B1F}" srcOrd="9" destOrd="0" presId="urn:microsoft.com/office/officeart/2005/8/layout/bProcess3"/>
    <dgm:cxn modelId="{59DA25C4-1B7A-E741-B6D9-4F6A91ACAC2C}" type="presParOf" srcId="{661680D4-7804-B744-AF44-5722DE891B1F}" destId="{09A1DBB6-CAC0-744C-B14F-6455DB625574}" srcOrd="0" destOrd="0" presId="urn:microsoft.com/office/officeart/2005/8/layout/bProcess3"/>
    <dgm:cxn modelId="{D4AEC9B4-6F1A-BA4F-8073-DEB598141325}" type="presParOf" srcId="{28D6AA86-3697-BF4C-8B28-22C274DF543D}" destId="{4A0DE67F-FA39-2042-9EC7-A48ABC4C9F74}" srcOrd="10" destOrd="0" presId="urn:microsoft.com/office/officeart/2005/8/layout/bProcess3"/>
    <dgm:cxn modelId="{3BD4268B-CE6B-A141-8B81-9D1A78EF7499}" type="presParOf" srcId="{28D6AA86-3697-BF4C-8B28-22C274DF543D}" destId="{6334E31D-1BB6-F649-9D7C-8FE4DFCABA89}" srcOrd="11" destOrd="0" presId="urn:microsoft.com/office/officeart/2005/8/layout/bProcess3"/>
    <dgm:cxn modelId="{DA76ED5E-38DD-7D46-A5C3-907C4D1BDF9A}" type="presParOf" srcId="{6334E31D-1BB6-F649-9D7C-8FE4DFCABA89}" destId="{52ED8E8B-B8BA-7043-BA98-644032A374FB}" srcOrd="0" destOrd="0" presId="urn:microsoft.com/office/officeart/2005/8/layout/bProcess3"/>
    <dgm:cxn modelId="{562CAAA4-5B74-3A45-9203-B23EC5B5C255}" type="presParOf" srcId="{28D6AA86-3697-BF4C-8B28-22C274DF543D}" destId="{7CD616E8-D95A-5746-BFA7-5E1E79B393C9}" srcOrd="12" destOrd="0" presId="urn:microsoft.com/office/officeart/2005/8/layout/bProcess3"/>
    <dgm:cxn modelId="{BA3E0435-A65A-BF41-A864-0903EA310AC4}" type="presParOf" srcId="{28D6AA86-3697-BF4C-8B28-22C274DF543D}" destId="{362B26C8-08F3-FA4D-809B-53EF0EFBD175}" srcOrd="13" destOrd="0" presId="urn:microsoft.com/office/officeart/2005/8/layout/bProcess3"/>
    <dgm:cxn modelId="{3CFAFB01-9B1F-BF4B-A866-D081547932CA}" type="presParOf" srcId="{362B26C8-08F3-FA4D-809B-53EF0EFBD175}" destId="{5B36C142-9EEF-E443-A1EA-CB3B39D479F4}" srcOrd="0" destOrd="0" presId="urn:microsoft.com/office/officeart/2005/8/layout/bProcess3"/>
    <dgm:cxn modelId="{64075799-3311-0244-A42C-2DA7F45CA881}" type="presParOf" srcId="{28D6AA86-3697-BF4C-8B28-22C274DF543D}" destId="{84F97104-F965-EA44-A8DC-BC23C8A933C3}" srcOrd="14" destOrd="0" presId="urn:microsoft.com/office/officeart/2005/8/layout/bProcess3"/>
    <dgm:cxn modelId="{5591BF03-AA2C-8547-BE90-F4D4B3F3B8BC}" type="presParOf" srcId="{28D6AA86-3697-BF4C-8B28-22C274DF543D}" destId="{A23582AE-F6B6-CC46-A6FB-42D2B7236904}" srcOrd="15" destOrd="0" presId="urn:microsoft.com/office/officeart/2005/8/layout/bProcess3"/>
    <dgm:cxn modelId="{10718B59-3843-9249-8E98-CEE19C94920B}" type="presParOf" srcId="{A23582AE-F6B6-CC46-A6FB-42D2B7236904}" destId="{07030091-355F-E646-9A14-598F08F017B4}" srcOrd="0" destOrd="0" presId="urn:microsoft.com/office/officeart/2005/8/layout/bProcess3"/>
    <dgm:cxn modelId="{C799DBA5-6124-684D-BB44-396641BA8F7F}" type="presParOf" srcId="{28D6AA86-3697-BF4C-8B28-22C274DF543D}" destId="{96974775-652E-3243-A214-915D68DA2CF9}" srcOrd="16" destOrd="0" presId="urn:microsoft.com/office/officeart/2005/8/layout/bProcess3"/>
    <dgm:cxn modelId="{65C27B0C-44DB-5148-98B5-C8B6D4E62F00}" type="presParOf" srcId="{28D6AA86-3697-BF4C-8B28-22C274DF543D}" destId="{CA07C5D5-88B4-184F-A394-2305CE036DA7}" srcOrd="17" destOrd="0" presId="urn:microsoft.com/office/officeart/2005/8/layout/bProcess3"/>
    <dgm:cxn modelId="{A5352CE8-55D0-924B-B030-1467D58B11E0}" type="presParOf" srcId="{CA07C5D5-88B4-184F-A394-2305CE036DA7}" destId="{052BCE76-9A23-4C40-B900-68704B9F0334}" srcOrd="0" destOrd="0" presId="urn:microsoft.com/office/officeart/2005/8/layout/bProcess3"/>
    <dgm:cxn modelId="{9A29DB3B-A25D-D44B-A932-EF755A9649C6}" type="presParOf" srcId="{28D6AA86-3697-BF4C-8B28-22C274DF543D}" destId="{C88E6AA3-E786-E546-BDFD-697BF414ADD5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ED397-96E5-114D-A629-C81A8684693F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8E580BE0-C108-D248-8605-C9F2C41281C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Datos Crudos FASTQ  </a:t>
          </a:r>
        </a:p>
      </dsp:txBody>
      <dsp:txXfrm>
        <a:off x="748607" y="2795"/>
        <a:ext cx="1922896" cy="1153737"/>
      </dsp:txXfrm>
    </dsp:sp>
    <dsp:sp modelId="{640C37BB-1683-2040-B24E-C1DE018E7226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-1519019"/>
              <a:satOff val="-103"/>
              <a:lumOff val="24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95259199-875D-C645-ADF8-CA9C431A3704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5">
            <a:hueOff val="-1350239"/>
            <a:satOff val="-92"/>
            <a:lumOff val="2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1. </a:t>
          </a:r>
          <a:r>
            <a:rPr lang="en-US" sz="1300" b="0" i="0" kern="1200" dirty="0" err="1"/>
            <a:t>Inspección</a:t>
          </a:r>
          <a:r>
            <a:rPr lang="en-US" sz="1300" b="0" i="0" kern="1200" dirty="0"/>
            <a:t> Calidad  </a:t>
          </a:r>
          <a:r>
            <a:rPr lang="en-US" sz="1300" b="0" i="0" kern="1200" dirty="0" err="1"/>
            <a:t>plotQualityProfile</a:t>
          </a:r>
          <a:r>
            <a:rPr lang="en-US" sz="1300" b="0" i="0" kern="1200" dirty="0"/>
            <a:t>()</a:t>
          </a:r>
          <a:endParaRPr lang="en-MX" sz="1300" b="0" i="0" kern="1200" dirty="0"/>
        </a:p>
      </dsp:txBody>
      <dsp:txXfrm>
        <a:off x="3113770" y="2795"/>
        <a:ext cx="1922896" cy="1153737"/>
      </dsp:txXfrm>
    </dsp:sp>
    <dsp:sp modelId="{EC7AD761-12B4-E94C-8B29-6054EF65D1FB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B2CA2C4D-3291-CB42-853B-1781669B8C37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5">
            <a:hueOff val="-2700478"/>
            <a:satOff val="-184"/>
            <a:lumOff val="43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2. </a:t>
          </a:r>
          <a:r>
            <a:rPr lang="en-US" sz="1300" b="0" i="0" kern="1200" dirty="0" err="1"/>
            <a:t>Filtrado</a:t>
          </a:r>
          <a:r>
            <a:rPr lang="en-US" sz="1300" b="0" i="0" kern="1200" dirty="0"/>
            <a:t> y </a:t>
          </a:r>
          <a:r>
            <a:rPr lang="en-US" sz="1300" b="0" i="0" kern="1200" dirty="0" err="1"/>
            <a:t>Recorte</a:t>
          </a:r>
          <a:r>
            <a:rPr lang="en-US" sz="1300" b="0" i="0" kern="1200" dirty="0"/>
            <a:t> </a:t>
          </a:r>
          <a:r>
            <a:rPr lang="en-US" sz="1300" b="0" i="0" kern="1200" dirty="0" err="1"/>
            <a:t>filterAndTrim</a:t>
          </a:r>
          <a:r>
            <a:rPr lang="en-US" sz="1300" b="0" i="0" kern="1200" dirty="0"/>
            <a:t>()</a:t>
          </a:r>
        </a:p>
      </dsp:txBody>
      <dsp:txXfrm>
        <a:off x="5478933" y="2795"/>
        <a:ext cx="1922896" cy="1153737"/>
      </dsp:txXfrm>
    </dsp:sp>
    <dsp:sp modelId="{D12D3D5A-224A-8E49-8DD7-16627D50135F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-4557056"/>
              <a:satOff val="-310"/>
              <a:lumOff val="7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DB8E86BF-881A-AE49-BE43-D6C40D1A9AB6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3. </a:t>
          </a:r>
          <a:r>
            <a:rPr lang="en-US" sz="1300" b="0" i="0" kern="1200" dirty="0" err="1"/>
            <a:t>Modelo</a:t>
          </a:r>
          <a:r>
            <a:rPr lang="en-US" sz="1300" b="0" i="0" kern="1200" dirty="0"/>
            <a:t> de Error  </a:t>
          </a:r>
          <a:r>
            <a:rPr lang="en-US" sz="1300" b="0" i="0" kern="1200" dirty="0" err="1"/>
            <a:t>learnErrors</a:t>
          </a:r>
          <a:r>
            <a:rPr lang="en-US" sz="1300" b="0" i="0" kern="1200" dirty="0"/>
            <a:t>()</a:t>
          </a:r>
        </a:p>
      </dsp:txBody>
      <dsp:txXfrm>
        <a:off x="7844095" y="2795"/>
        <a:ext cx="1922896" cy="1153737"/>
      </dsp:txXfrm>
    </dsp:sp>
    <dsp:sp modelId="{661680D4-7804-B744-AF44-5722DE891B1F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0D828B9B-1707-0349-8168-E76CB9E50707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5">
            <a:hueOff val="-5400955"/>
            <a:satOff val="-367"/>
            <a:lumOff val="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4. </a:t>
          </a:r>
          <a:r>
            <a:rPr lang="en-US" sz="1300" b="0" i="0" kern="1200" dirty="0" err="1"/>
            <a:t>Inferencia</a:t>
          </a:r>
          <a:r>
            <a:rPr lang="en-US" sz="1300" b="0" i="0" kern="1200" dirty="0"/>
            <a:t> de ASVs dada()</a:t>
          </a:r>
        </a:p>
      </dsp:txBody>
      <dsp:txXfrm>
        <a:off x="748607" y="1598800"/>
        <a:ext cx="1922896" cy="1153737"/>
      </dsp:txXfrm>
    </dsp:sp>
    <dsp:sp modelId="{6334E31D-1BB6-F649-9D7C-8FE4DFCABA89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-7595094"/>
              <a:satOff val="-516"/>
              <a:lumOff val="122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4A0DE67F-FA39-2042-9EC7-A48ABC4C9F74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5">
            <a:hueOff val="-6751195"/>
            <a:satOff val="-459"/>
            <a:lumOff val="10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5. Merge Paired-End    merge()</a:t>
          </a:r>
        </a:p>
      </dsp:txBody>
      <dsp:txXfrm>
        <a:off x="3113770" y="1598800"/>
        <a:ext cx="1922896" cy="1153737"/>
      </dsp:txXfrm>
    </dsp:sp>
    <dsp:sp modelId="{362B26C8-08F3-FA4D-809B-53EF0EFBD175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7CD616E8-D95A-5746-BFA7-5E1E79B393C9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6. </a:t>
          </a:r>
          <a:r>
            <a:rPr lang="en-US" sz="1300" b="0" i="0" kern="1200" dirty="0" err="1"/>
            <a:t>Tabla</a:t>
          </a:r>
          <a:r>
            <a:rPr lang="en-US" sz="1300" b="0" i="0" kern="1200" dirty="0"/>
            <a:t> de </a:t>
          </a:r>
          <a:r>
            <a:rPr lang="en-US" sz="1300" b="0" i="0" kern="1200" dirty="0" err="1"/>
            <a:t>Secuencias</a:t>
          </a:r>
          <a:r>
            <a:rPr lang="en-US" sz="1300" b="0" i="0" kern="1200" dirty="0"/>
            <a:t>   </a:t>
          </a:r>
          <a:r>
            <a:rPr lang="en-US" sz="1300" b="0" i="0" kern="1200" dirty="0" err="1"/>
            <a:t>makeSequenceTable</a:t>
          </a:r>
          <a:r>
            <a:rPr lang="en-US" sz="1300" b="0" i="0" kern="1200" dirty="0"/>
            <a:t>()</a:t>
          </a:r>
        </a:p>
      </dsp:txBody>
      <dsp:txXfrm>
        <a:off x="5478933" y="1598800"/>
        <a:ext cx="1922896" cy="1153737"/>
      </dsp:txXfrm>
    </dsp:sp>
    <dsp:sp modelId="{A23582AE-F6B6-CC46-A6FB-42D2B7236904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-10633130"/>
              <a:satOff val="-723"/>
              <a:lumOff val="171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84F97104-F965-EA44-A8DC-BC23C8A933C3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5">
            <a:hueOff val="-9451672"/>
            <a:satOff val="-642"/>
            <a:lumOff val="15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7. </a:t>
          </a:r>
          <a:r>
            <a:rPr lang="en-US" sz="1300" b="0" i="0" kern="1200" dirty="0" err="1"/>
            <a:t>Remoción</a:t>
          </a:r>
          <a:r>
            <a:rPr lang="en-US" sz="1300" b="0" i="0" kern="1200" dirty="0"/>
            <a:t> </a:t>
          </a:r>
          <a:r>
            <a:rPr lang="en-US" sz="1300" b="0" i="0" kern="1200" dirty="0" err="1"/>
            <a:t>Quimeras</a:t>
          </a:r>
          <a:r>
            <a:rPr lang="en-US" sz="1300" b="0" i="0" kern="1200" dirty="0"/>
            <a:t>    </a:t>
          </a:r>
          <a:r>
            <a:rPr lang="en-US" sz="1300" b="0" i="0" kern="1200" dirty="0" err="1"/>
            <a:t>removeBimeraDenovo</a:t>
          </a:r>
          <a:r>
            <a:rPr lang="en-US" sz="1300" b="0" i="0" kern="1200" dirty="0"/>
            <a:t>()</a:t>
          </a:r>
        </a:p>
      </dsp:txBody>
      <dsp:txXfrm>
        <a:off x="7844095" y="1598800"/>
        <a:ext cx="1922896" cy="1153737"/>
      </dsp:txXfrm>
    </dsp:sp>
    <dsp:sp modelId="{CA07C5D5-88B4-184F-A394-2305CE036DA7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96974775-652E-3243-A214-915D68DA2CF9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-10801911"/>
            <a:satOff val="-734"/>
            <a:lumOff val="17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8. </a:t>
          </a:r>
          <a:r>
            <a:rPr lang="en-US" sz="1300" b="0" i="0" kern="1200" dirty="0" err="1"/>
            <a:t>Asignación</a:t>
          </a:r>
          <a:r>
            <a:rPr lang="en-US" sz="1300" b="0" i="0" kern="1200" dirty="0"/>
            <a:t> </a:t>
          </a:r>
          <a:r>
            <a:rPr lang="en-US" sz="1300" b="0" i="0" kern="1200" dirty="0" err="1"/>
            <a:t>Taxonómica</a:t>
          </a:r>
          <a:r>
            <a:rPr lang="en-US" sz="1300" b="0" i="0" kern="1200" dirty="0"/>
            <a:t> </a:t>
          </a:r>
          <a:r>
            <a:rPr lang="en-US" sz="1300" b="0" i="0" kern="1200" dirty="0" err="1"/>
            <a:t>assignTaxonomy</a:t>
          </a:r>
          <a:r>
            <a:rPr lang="en-US" sz="1300" b="0" i="0" kern="1200" dirty="0"/>
            <a:t>()</a:t>
          </a:r>
        </a:p>
      </dsp:txBody>
      <dsp:txXfrm>
        <a:off x="748607" y="3194804"/>
        <a:ext cx="1922896" cy="1153737"/>
      </dsp:txXfrm>
    </dsp:sp>
    <dsp:sp modelId="{C88E6AA3-E786-E546-BDFD-697BF414ADD5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 err="1"/>
            <a:t>Resultados</a:t>
          </a:r>
          <a:r>
            <a:rPr lang="en-US" sz="1300" b="0" i="0" kern="1200" dirty="0"/>
            <a:t> Finales</a:t>
          </a:r>
        </a:p>
      </dsp:txBody>
      <dsp:txXfrm>
        <a:off x="3113770" y="3194804"/>
        <a:ext cx="1922896" cy="1153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6DBDB-E905-7A45-9978-CCBBA17DA8FE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2067D-E2A6-774D-A304-5A420A942AB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515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582A9CD6-6839-A92B-F3A6-4B7B7079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7:notes">
            <a:extLst>
              <a:ext uri="{FF2B5EF4-FFF2-40B4-BE49-F238E27FC236}">
                <a16:creationId xmlns:a16="http://schemas.microsoft.com/office/drawing/2014/main" id="{7F4406A4-2927-3A57-2374-BD64170C2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7:notes">
            <a:extLst>
              <a:ext uri="{FF2B5EF4-FFF2-40B4-BE49-F238E27FC236}">
                <a16:creationId xmlns:a16="http://schemas.microsoft.com/office/drawing/2014/main" id="{B3C4BFA2-AA4D-1C5D-2EDB-C3B82F7EF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1180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0572-1501-CAC9-2287-508A22DE8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88590-33CA-55C9-DED7-9EF78AAF9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52DC2-FB9B-D77B-40A5-02087B1C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5C28-5637-6641-FADC-DC646E7A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41491-4EFE-C11F-02C7-78751909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7695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2267-BF9A-0034-BA8E-C0DD85CE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6101-D400-49D4-C85C-B2CCB381B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5F1D6-6F20-F3CB-4E55-A4C18E95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D909F-8BC3-D903-A0D0-97E1D9DF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38ECE-4334-E5CA-37B1-AA922591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2503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1B11-773F-1CE7-887A-81E475F9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E5C08-EB13-A769-33DF-4EBEC3421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E8F7D-C834-D9F3-BF00-89D07981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15A3E-E75C-22B8-36D4-CB12190E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2B110-B4B6-BCF2-8006-38E5986A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586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BAB3-2406-FD3E-A1C1-E7F27C9C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F0E9A-F284-C3DE-5CC6-5A86859CB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07D88-3B26-2390-2376-22269E6A6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089E3-B151-B818-DEF8-C784406E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FB2EA-9B8C-66D5-8533-C0102FBD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1A622-5AF7-6D61-7123-8E7FAE5A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784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96A5-350D-AA5E-BE15-04170C33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A5A4D-AE7A-0DA3-FD5E-2DD3E979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B5DDB-8F60-E8A2-F454-37DA62111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D7866-B726-2CA8-4503-C340B7D47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2181B-4A38-4D39-1479-3713CA95D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A8276-5334-4CD0-875A-011480FB6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E64C0-4638-3460-9D3B-4441659A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16754-B3F5-46A8-DD22-B3E03A32D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365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7C08-18EF-A771-6753-739E020D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FA7CE-EC04-3410-C5EB-398D1B9C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C43A2-3C4E-2EFC-1E78-BF018AC8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D6764-5738-9A28-8899-D4218343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135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C1FD5-8C17-CC33-51C0-33EE26D6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441DB8-1FFB-9B5F-BEE6-D774EECA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81ED7-F67C-427A-AA3A-81763A55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65098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D27A-DAC7-7ECF-A228-7015A04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F1F82-2B85-BFB5-8CB5-9126717A7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59A45-17E4-27EE-BD6C-DD1AA358C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72320-AD13-FFA7-C80C-C15CBEDA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344F6-6ED2-58FA-23F2-88578141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C7A32-D4CE-013B-D209-C202FC43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5826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B070-5B5D-CA59-6B25-D58EF16D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15549-851A-A885-1E49-727153EBF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D1B3F-A3C1-9468-D1E6-B843A5554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98F78-0E82-85C2-62DB-3E0720E2B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2A3E7-C78A-747E-872F-1345634E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31851-BAFA-4BBF-F810-A1F7C6D7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1308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E61E-AE9A-12EF-A21F-2315C3A3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95DC8-5F23-DB9D-7EFA-00C91D2AE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9D673-0EA9-EDA9-53F9-23D52FD7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B6370-BE76-4002-B1FF-40717748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35AC-67DD-FE53-7405-8EB42367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057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157A9-809B-A3C4-C2AB-39BF611F0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0AA57-E39B-D396-ED02-A63AF8539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EC10-017F-418A-D2AE-CE50636E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074A-695B-4549-01E6-ED1E61A6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0BF98-588E-EA89-1D64-69139475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700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19BD2-58DB-C7E5-68AE-371235A4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62A31-5A8A-BDD2-83D9-8850FBA6B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9596-E9D5-8560-5A90-CCF1EE29C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5B131-8408-D84D-890D-861E2F1FF951}" type="datetimeFigureOut">
              <a:rPr lang="es-ES_tradnl" smtClean="0"/>
              <a:t>18/11/25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32298-EA64-EF26-88B9-6330CDC93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E7471-CF91-419A-05BE-3DB6B8644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CFF80-1067-9C4B-A839-727517ACDCA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5583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C277-70E9-9C0B-1C81-68D92BBAE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s-ES_tradnl" sz="6200" dirty="0" err="1"/>
              <a:t>Metabarcoding</a:t>
            </a:r>
            <a:r>
              <a:rPr lang="es-ES_tradnl" sz="6200" dirty="0"/>
              <a:t> en comunidades de eucariontes</a:t>
            </a:r>
            <a:br>
              <a:rPr lang="es-ES_tradnl" sz="6200" dirty="0"/>
            </a:br>
            <a:r>
              <a:rPr lang="es-ES_tradnl" sz="6200" dirty="0">
                <a:solidFill>
                  <a:srgbClr val="FF0000"/>
                </a:solidFill>
              </a:rPr>
              <a:t>Día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48F4B-F310-4BEB-CF39-1B86C0A5A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8954" y="4619624"/>
            <a:ext cx="7458750" cy="1038225"/>
          </a:xfrm>
        </p:spPr>
        <p:txBody>
          <a:bodyPr>
            <a:normAutofit/>
          </a:bodyPr>
          <a:lstStyle/>
          <a:p>
            <a:pPr algn="r"/>
            <a:r>
              <a:rPr lang="es-ES_tradnl" dirty="0"/>
              <a:t>24 al 28 de noviembre del 2025</a:t>
            </a:r>
          </a:p>
          <a:p>
            <a:pPr algn="r"/>
            <a:r>
              <a:rPr lang="es-ES_tradnl" dirty="0"/>
              <a:t>Instituto de Ciencias del Mar y Limnología - UNAM</a:t>
            </a:r>
          </a:p>
        </p:txBody>
      </p:sp>
    </p:spTree>
    <p:extLst>
      <p:ext uri="{BB962C8B-B14F-4D97-AF65-F5344CB8AC3E}">
        <p14:creationId xmlns:p14="http://schemas.microsoft.com/office/powerpoint/2010/main" val="376829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A9B49-E361-0053-CABE-6040ED061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0431"/>
            <a:ext cx="10515600" cy="33165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4400" dirty="0"/>
              <a:t>¡Bienvenidos!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D3D79B-3BD8-D1ED-85EF-821B1677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527" y="635635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E5F58A-7AAB-4064-8005-0E764A4DD294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04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1D03-D3C8-C131-771B-A60934D6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6FD7F-DE0B-B1A2-6CD5-C1A0B6FF7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Temas </a:t>
            </a:r>
            <a:r>
              <a:rPr lang="en-US" dirty="0" err="1"/>
              <a:t>principales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día:</a:t>
            </a:r>
            <a:endParaRPr lang="es-ES_tradn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F9427-31BB-152A-B705-CCF07EE28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sz="2400" dirty="0"/>
              <a:t>Lunes: Fundamentos de </a:t>
            </a:r>
            <a:r>
              <a:rPr lang="es-ES_tradnl" sz="2400" dirty="0" err="1"/>
              <a:t>eDNA</a:t>
            </a:r>
            <a:r>
              <a:rPr lang="es-ES_tradnl" sz="2400" dirty="0"/>
              <a:t>, diseño experimental, muestreo y laboratorio</a:t>
            </a:r>
          </a:p>
          <a:p>
            <a:endParaRPr lang="es-ES_tradnl" sz="2400" dirty="0"/>
          </a:p>
          <a:p>
            <a:r>
              <a:rPr lang="es-ES_tradnl" sz="2400" b="1" dirty="0">
                <a:solidFill>
                  <a:srgbClr val="FF0000"/>
                </a:solidFill>
              </a:rPr>
              <a:t>Martes: Bioinformática: conexión al servidor, Linux, importación y control de calidad</a:t>
            </a:r>
          </a:p>
          <a:p>
            <a:endParaRPr lang="es-ES_tradnl" sz="2400" dirty="0"/>
          </a:p>
          <a:p>
            <a:r>
              <a:rPr lang="es-ES_tradnl" sz="2400" dirty="0"/>
              <a:t>Miércoles: Procesamiento de secuencias: </a:t>
            </a:r>
            <a:r>
              <a:rPr lang="es-ES_tradnl" sz="2400" dirty="0" err="1"/>
              <a:t>denoising</a:t>
            </a:r>
            <a:r>
              <a:rPr lang="es-ES_tradnl" sz="2400" dirty="0"/>
              <a:t>, quimeras, asignación taxonómica</a:t>
            </a:r>
          </a:p>
          <a:p>
            <a:endParaRPr lang="es-ES_tradnl" sz="2400" dirty="0"/>
          </a:p>
          <a:p>
            <a:r>
              <a:rPr lang="es-ES_tradnl" sz="2400" dirty="0"/>
              <a:t>Jueves: Análisis ecológico: tablas, visualización, diversidad, comparación de </a:t>
            </a:r>
            <a:r>
              <a:rPr lang="es-ES_tradnl" sz="2400" dirty="0" err="1"/>
              <a:t>barcodes</a:t>
            </a:r>
            <a:endParaRPr lang="es-ES_tradnl" sz="2400" dirty="0"/>
          </a:p>
          <a:p>
            <a:endParaRPr lang="es-ES_tradnl" sz="2400" dirty="0"/>
          </a:p>
          <a:p>
            <a:r>
              <a:rPr lang="es-ES_tradnl" sz="2400" dirty="0"/>
              <a:t>Viernes: Controles negativos, </a:t>
            </a:r>
            <a:r>
              <a:rPr lang="es-ES_tradnl" sz="2400" dirty="0" err="1"/>
              <a:t>OTUs</a:t>
            </a:r>
            <a:r>
              <a:rPr lang="es-ES_tradnl" sz="2400" dirty="0"/>
              <a:t>, temas auxiliares y presentación de proyectos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4FA4FC9-BF68-BCE9-E41C-C96E5796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527" y="635635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E5F58A-7AAB-4064-8005-0E764A4DD294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50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41A6F5-72C6-3280-79CE-DDDD0FB8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527" y="6345063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E5F58A-7AAB-4064-8005-0E764A4DD294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 pitchFamily="34" charset="0"/>
              <a:ea typeface="+mn-ea"/>
              <a:cs typeface="+mn-cs"/>
            </a:endParaRP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5B3BB188-5FE4-183A-C157-0577411CD483}"/>
              </a:ext>
            </a:extLst>
          </p:cNvPr>
          <p:cNvSpPr/>
          <p:nvPr/>
        </p:nvSpPr>
        <p:spPr>
          <a:xfrm>
            <a:off x="5559778" y="2815696"/>
            <a:ext cx="1072444" cy="1083733"/>
          </a:xfrm>
          <a:prstGeom prst="smileyFac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150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374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4AF1-FA98-C75D-B9B9-56095528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Conexión al servidor</a:t>
            </a:r>
          </a:p>
        </p:txBody>
      </p:sp>
    </p:spTree>
    <p:extLst>
      <p:ext uri="{BB962C8B-B14F-4D97-AF65-F5344CB8AC3E}">
        <p14:creationId xmlns:p14="http://schemas.microsoft.com/office/powerpoint/2010/main" val="140109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17D2-86FA-7686-41F4-D8FC4EE55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 a Linux, Unix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CE8BD-6331-545D-16C3-CA35F1ECF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b="1" dirty="0"/>
              <a:t>https://</a:t>
            </a:r>
            <a:r>
              <a:rPr lang="es-ES_tradnl" b="1" dirty="0" err="1"/>
              <a:t>www.codecademy.com</a:t>
            </a:r>
            <a:r>
              <a:rPr lang="es-ES_tradnl" b="1" dirty="0"/>
              <a:t>/</a:t>
            </a:r>
            <a:r>
              <a:rPr lang="es-ES_tradnl" b="1" dirty="0" err="1"/>
              <a:t>learn</a:t>
            </a:r>
            <a:r>
              <a:rPr lang="es-ES_tradnl" b="1" dirty="0"/>
              <a:t>/</a:t>
            </a:r>
            <a:r>
              <a:rPr lang="es-ES_tradnl" b="1" dirty="0" err="1"/>
              <a:t>learn</a:t>
            </a:r>
            <a:r>
              <a:rPr lang="es-ES_tradnl" b="1" dirty="0"/>
              <a:t>-</a:t>
            </a:r>
            <a:r>
              <a:rPr lang="es-ES_tradnl" b="1" dirty="0" err="1"/>
              <a:t>the</a:t>
            </a:r>
            <a:r>
              <a:rPr lang="es-ES_tradnl" b="1" dirty="0"/>
              <a:t>-</a:t>
            </a:r>
            <a:r>
              <a:rPr lang="es-ES_tradnl" b="1" dirty="0" err="1"/>
              <a:t>command</a:t>
            </a:r>
            <a:r>
              <a:rPr lang="es-ES_tradnl" b="1" dirty="0"/>
              <a:t>-line</a:t>
            </a:r>
          </a:p>
        </p:txBody>
      </p:sp>
    </p:spTree>
    <p:extLst>
      <p:ext uri="{BB962C8B-B14F-4D97-AF65-F5344CB8AC3E}">
        <p14:creationId xmlns:p14="http://schemas.microsoft.com/office/powerpoint/2010/main" val="2729597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5BDD3-DE2F-9452-E7DF-76CE4019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 a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E5766-6978-F293-C236-22A926A28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https://</a:t>
            </a:r>
            <a:r>
              <a:rPr lang="es-ES_tradnl" dirty="0" err="1"/>
              <a:t>cran.r-project.org</a:t>
            </a:r>
            <a:r>
              <a:rPr lang="es-ES_tradnl" dirty="0"/>
              <a:t>/</a:t>
            </a:r>
            <a:r>
              <a:rPr lang="es-ES_tradnl" dirty="0" err="1"/>
              <a:t>other-docs.html</a:t>
            </a:r>
            <a:endParaRPr lang="es-ES_tradnl" dirty="0"/>
          </a:p>
          <a:p>
            <a:r>
              <a:rPr lang="es-ES_tradnl" dirty="0"/>
              <a:t>https://philip-</a:t>
            </a:r>
            <a:r>
              <a:rPr lang="es-ES_tradnl" dirty="0" err="1"/>
              <a:t>leftwich.github.io</a:t>
            </a:r>
            <a:r>
              <a:rPr lang="es-ES_tradnl" dirty="0"/>
              <a:t>/</a:t>
            </a:r>
            <a:r>
              <a:rPr lang="es-ES_tradnl" dirty="0" err="1"/>
              <a:t>physalia-stats-intro</a:t>
            </a:r>
            <a:r>
              <a:rPr lang="es-ES_tradnl" dirty="0"/>
              <a:t>/</a:t>
            </a:r>
          </a:p>
          <a:p>
            <a:r>
              <a:rPr lang="es-ES_tradnl" dirty="0"/>
              <a:t>https://</a:t>
            </a:r>
            <a:r>
              <a:rPr lang="es-ES_tradnl" dirty="0" err="1"/>
              <a:t>www.codecademy.com</a:t>
            </a:r>
            <a:r>
              <a:rPr lang="es-ES_tradnl" dirty="0"/>
              <a:t>/</a:t>
            </a:r>
            <a:r>
              <a:rPr lang="es-ES_tradnl" dirty="0" err="1"/>
              <a:t>enrolled</a:t>
            </a:r>
            <a:r>
              <a:rPr lang="es-ES_tradnl" dirty="0"/>
              <a:t>/</a:t>
            </a:r>
            <a:r>
              <a:rPr lang="es-ES_tradnl" dirty="0" err="1"/>
              <a:t>courses</a:t>
            </a:r>
            <a:r>
              <a:rPr lang="es-ES_tradnl" dirty="0"/>
              <a:t>/</a:t>
            </a:r>
            <a:r>
              <a:rPr lang="es-ES_tradnl" dirty="0" err="1"/>
              <a:t>learn</a:t>
            </a:r>
            <a:r>
              <a:rPr lang="es-ES_tradnl" dirty="0"/>
              <a:t>-r</a:t>
            </a:r>
          </a:p>
        </p:txBody>
      </p:sp>
    </p:spTree>
    <p:extLst>
      <p:ext uri="{BB962C8B-B14F-4D97-AF65-F5344CB8AC3E}">
        <p14:creationId xmlns:p14="http://schemas.microsoft.com/office/powerpoint/2010/main" val="742796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6B81-1CD1-0456-3EF3-065C6DEE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es DADA2?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4A59C-9BEA-7F04-D234-A53CE2030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Divisive </a:t>
            </a:r>
            <a:r>
              <a:rPr lang="es-ES_tradnl" dirty="0" err="1"/>
              <a:t>Amplicon</a:t>
            </a:r>
            <a:r>
              <a:rPr lang="es-ES_tradnl" dirty="0"/>
              <a:t> </a:t>
            </a:r>
            <a:r>
              <a:rPr lang="es-ES_tradnl" dirty="0" err="1"/>
              <a:t>Denoising</a:t>
            </a:r>
            <a:r>
              <a:rPr lang="es-ES_tradnl" dirty="0"/>
              <a:t> </a:t>
            </a:r>
            <a:r>
              <a:rPr lang="es-ES_tradnl" dirty="0" err="1"/>
              <a:t>Algorithm</a:t>
            </a:r>
            <a:r>
              <a:rPr lang="es-ES_tradnl" dirty="0"/>
              <a:t> 2</a:t>
            </a:r>
          </a:p>
          <a:p>
            <a:r>
              <a:rPr lang="es-ES_tradnl" dirty="0"/>
              <a:t>Desarrollado por </a:t>
            </a:r>
            <a:r>
              <a:rPr lang="es-ES_tradnl" dirty="0" err="1"/>
              <a:t>Benjamin</a:t>
            </a:r>
            <a:r>
              <a:rPr lang="es-ES_tradnl" dirty="0"/>
              <a:t> </a:t>
            </a:r>
            <a:r>
              <a:rPr lang="es-ES_tradnl" dirty="0" err="1"/>
              <a:t>Callahan</a:t>
            </a:r>
            <a:r>
              <a:rPr lang="es-ES_tradnl" dirty="0"/>
              <a:t> et al. (2016)</a:t>
            </a:r>
          </a:p>
          <a:p>
            <a:r>
              <a:rPr lang="es-ES_tradnl" dirty="0"/>
              <a:t>Publicado en *</a:t>
            </a:r>
            <a:r>
              <a:rPr lang="es-ES_tradnl" dirty="0" err="1"/>
              <a:t>Nature</a:t>
            </a:r>
            <a:r>
              <a:rPr lang="es-ES_tradnl" dirty="0"/>
              <a:t> </a:t>
            </a:r>
            <a:r>
              <a:rPr lang="es-ES_tradnl" dirty="0" err="1"/>
              <a:t>Methods</a:t>
            </a:r>
            <a:r>
              <a:rPr lang="es-ES_tradnl" dirty="0"/>
              <a:t>*</a:t>
            </a:r>
          </a:p>
          <a:p>
            <a:r>
              <a:rPr lang="es-ES_tradnl" dirty="0"/>
              <a:t>Implementado en R/</a:t>
            </a:r>
            <a:r>
              <a:rPr lang="es-ES_tradnl" dirty="0" err="1"/>
              <a:t>Bioconductor</a:t>
            </a:r>
            <a:endParaRPr lang="es-ES_tradnl" dirty="0"/>
          </a:p>
          <a:p>
            <a:endParaRPr lang="es-ES_tradnl" dirty="0"/>
          </a:p>
          <a:p>
            <a:pPr marL="0" indent="0">
              <a:buNone/>
            </a:pPr>
            <a:r>
              <a:rPr lang="es-ES_tradnl" b="1" dirty="0"/>
              <a:t>Filosofía Central</a:t>
            </a:r>
          </a:p>
          <a:p>
            <a:r>
              <a:rPr lang="es-ES_tradnl" dirty="0"/>
              <a:t>"Inferir secuencias biológicas exactas en lugar de agrupar en </a:t>
            </a:r>
            <a:r>
              <a:rPr lang="es-ES_tradnl" dirty="0" err="1"/>
              <a:t>OTUs</a:t>
            </a:r>
            <a:r>
              <a:rPr lang="es-ES_tradnl" dirty="0"/>
              <a:t> arbitrarios"</a:t>
            </a:r>
          </a:p>
        </p:txBody>
      </p:sp>
    </p:spTree>
    <p:extLst>
      <p:ext uri="{BB962C8B-B14F-4D97-AF65-F5344CB8AC3E}">
        <p14:creationId xmlns:p14="http://schemas.microsoft.com/office/powerpoint/2010/main" val="2585622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1E645C7D-347D-6894-9E5B-65793D54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7">
            <a:extLst>
              <a:ext uri="{FF2B5EF4-FFF2-40B4-BE49-F238E27FC236}">
                <a16:creationId xmlns:a16="http://schemas.microsoft.com/office/drawing/2014/main" id="{2231A37C-1C9E-E8A1-20BC-8C91BF8C6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s-ES_tradnl" sz="4000" b="1" dirty="0">
                <a:latin typeface="Helvetica Neue"/>
                <a:ea typeface="Helvetica Neue"/>
                <a:cs typeface="Helvetica Neue"/>
                <a:sym typeface="Helvetica Neue"/>
              </a:rPr>
              <a:t>OTU vs ASV</a:t>
            </a:r>
            <a:endParaRPr lang="es-ES_trad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C8F81-65CC-9525-2A66-2016CA2DB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OTUs (Operational Taxonomic Units)</a:t>
            </a:r>
          </a:p>
          <a:p>
            <a:r>
              <a:rPr lang="en-US" dirty="0"/>
              <a:t>Clustering al 97% </a:t>
            </a:r>
            <a:r>
              <a:rPr lang="en-US" dirty="0" err="1"/>
              <a:t>similitud</a:t>
            </a:r>
            <a:endParaRPr lang="en-US" dirty="0"/>
          </a:p>
          <a:p>
            <a:r>
              <a:rPr lang="en-US" dirty="0" err="1"/>
              <a:t>Dependiente</a:t>
            </a:r>
            <a:r>
              <a:rPr lang="en-US" dirty="0"/>
              <a:t> del dataset</a:t>
            </a:r>
          </a:p>
          <a:p>
            <a:r>
              <a:rPr lang="en-US" dirty="0"/>
              <a:t>Baja </a:t>
            </a:r>
            <a:r>
              <a:rPr lang="en-US" dirty="0" err="1"/>
              <a:t>reproducibilidad</a:t>
            </a:r>
            <a:r>
              <a:rPr lang="en-US" dirty="0"/>
              <a:t> entre </a:t>
            </a:r>
            <a:r>
              <a:rPr lang="en-US" dirty="0" err="1"/>
              <a:t>estudios</a:t>
            </a:r>
            <a:endParaRPr lang="en-US" dirty="0"/>
          </a:p>
          <a:p>
            <a:r>
              <a:rPr lang="en-US" dirty="0"/>
              <a:t>Pérdida de </a:t>
            </a:r>
            <a:r>
              <a:rPr lang="en-US" dirty="0" err="1"/>
              <a:t>resolución</a:t>
            </a:r>
            <a:r>
              <a:rPr lang="en-US" dirty="0"/>
              <a:t> </a:t>
            </a:r>
            <a:r>
              <a:rPr lang="en-US" dirty="0" err="1"/>
              <a:t>biológica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ASVs (Amplicon Sequence Variants)</a:t>
            </a:r>
          </a:p>
          <a:p>
            <a:r>
              <a:rPr lang="en-US" dirty="0" err="1"/>
              <a:t>Resolución</a:t>
            </a:r>
            <a:r>
              <a:rPr lang="en-US" dirty="0"/>
              <a:t> de </a:t>
            </a:r>
            <a:r>
              <a:rPr lang="en-US" dirty="0" err="1"/>
              <a:t>nucleótido</a:t>
            </a:r>
            <a:r>
              <a:rPr lang="en-US" dirty="0"/>
              <a:t> </a:t>
            </a:r>
            <a:r>
              <a:rPr lang="en-US" dirty="0" err="1"/>
              <a:t>único</a:t>
            </a:r>
            <a:endParaRPr lang="en-US" dirty="0"/>
          </a:p>
          <a:p>
            <a:r>
              <a:rPr lang="en-US" dirty="0"/>
              <a:t>Independiente del dataset</a:t>
            </a:r>
          </a:p>
          <a:p>
            <a:r>
              <a:rPr lang="en-US" dirty="0"/>
              <a:t>Alta </a:t>
            </a:r>
            <a:r>
              <a:rPr lang="en-US" dirty="0" err="1"/>
              <a:t>reproducibilidad</a:t>
            </a:r>
            <a:endParaRPr lang="en-US" dirty="0"/>
          </a:p>
          <a:p>
            <a:r>
              <a:rPr lang="en-US" dirty="0" err="1"/>
              <a:t>Comparabilidad</a:t>
            </a:r>
            <a:r>
              <a:rPr lang="en-US" dirty="0"/>
              <a:t> </a:t>
            </a:r>
            <a:r>
              <a:rPr lang="en-US" dirty="0" err="1"/>
              <a:t>directa</a:t>
            </a:r>
            <a:r>
              <a:rPr lang="en-US" dirty="0"/>
              <a:t> entre </a:t>
            </a:r>
            <a:r>
              <a:rPr lang="en-US" dirty="0" err="1"/>
              <a:t>estudios</a:t>
            </a:r>
            <a:endParaRPr lang="en-US" dirty="0"/>
          </a:p>
          <a:p>
            <a:r>
              <a:rPr lang="en-US" dirty="0" err="1"/>
              <a:t>Detecta</a:t>
            </a:r>
            <a:r>
              <a:rPr lang="en-US" dirty="0"/>
              <a:t> </a:t>
            </a:r>
            <a:r>
              <a:rPr lang="en-US" dirty="0" err="1"/>
              <a:t>variación</a:t>
            </a:r>
            <a:r>
              <a:rPr lang="en-US" dirty="0"/>
              <a:t> </a:t>
            </a:r>
            <a:r>
              <a:rPr lang="en-US" dirty="0" err="1"/>
              <a:t>intraespecífica</a:t>
            </a:r>
            <a:endParaRPr lang="en-US" dirty="0"/>
          </a:p>
          <a:p>
            <a:endParaRPr lang="es-ES_trad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731B1C-49B3-C1D5-7748-C18A3E07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610261-F1A3-3248-8C81-295A506CFF4D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pic>
        <p:nvPicPr>
          <p:cNvPr id="1026" name="Picture 2" descr="BIOINFORMATICS">
            <a:extLst>
              <a:ext uri="{FF2B5EF4-FFF2-40B4-BE49-F238E27FC236}">
                <a16:creationId xmlns:a16="http://schemas.microsoft.com/office/drawing/2014/main" id="{32BB95BB-5F8E-2A34-F7A4-91F33565F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033" y="1154223"/>
            <a:ext cx="38989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uevo servicio: Cálculo de potencia y tamaño de muestra para estudios de  microbiota">
            <a:extLst>
              <a:ext uri="{FF2B5EF4-FFF2-40B4-BE49-F238E27FC236}">
                <a16:creationId xmlns:a16="http://schemas.microsoft.com/office/drawing/2014/main" id="{1EBE07AF-DF53-515B-F093-5A237F190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7" t="25568" r="11868" b="6709"/>
          <a:stretch>
            <a:fillRect/>
          </a:stretch>
        </p:blipFill>
        <p:spPr bwMode="auto">
          <a:xfrm>
            <a:off x="6096000" y="3653151"/>
            <a:ext cx="4899691" cy="252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59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0F31-4B83-0C2A-734C-740C66B8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 General DADA2</a:t>
            </a:r>
            <a:endParaRPr lang="es-ES_tradn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54F1C5-BB41-7720-8DF9-497FD2C1B1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304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B60C-5B0F-FF18-B547-08D6BFD03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PASO 1: </a:t>
            </a:r>
            <a:r>
              <a:rPr lang="en-US" b="1" dirty="0" err="1"/>
              <a:t>Inspección</a:t>
            </a:r>
            <a:r>
              <a:rPr lang="en-US" b="1" dirty="0"/>
              <a:t> de Calidad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B7F1D-DF0C-00DA-E5D8-50AD62CD3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Objetivo</a:t>
            </a:r>
            <a:endParaRPr lang="en-US" b="1" dirty="0"/>
          </a:p>
          <a:p>
            <a:r>
              <a:rPr lang="en-US" dirty="0" err="1"/>
              <a:t>Evaluar</a:t>
            </a:r>
            <a:r>
              <a:rPr lang="en-US" dirty="0"/>
              <a:t> </a:t>
            </a:r>
            <a:r>
              <a:rPr lang="en-US" dirty="0" err="1"/>
              <a:t>calidad</a:t>
            </a:r>
            <a:r>
              <a:rPr lang="en-US" dirty="0"/>
              <a:t> de </a:t>
            </a:r>
            <a:r>
              <a:rPr lang="en-US" dirty="0" err="1"/>
              <a:t>secuencias</a:t>
            </a:r>
            <a:r>
              <a:rPr lang="en-US" dirty="0"/>
              <a:t> </a:t>
            </a:r>
            <a:r>
              <a:rPr lang="en-US" dirty="0" err="1"/>
              <a:t>crudas</a:t>
            </a:r>
            <a:r>
              <a:rPr lang="en-US" dirty="0"/>
              <a:t> para </a:t>
            </a:r>
            <a:r>
              <a:rPr lang="en-US" dirty="0" err="1"/>
              <a:t>determinar</a:t>
            </a:r>
            <a:r>
              <a:rPr lang="en-US" dirty="0"/>
              <a:t> </a:t>
            </a:r>
            <a:r>
              <a:rPr lang="en-US" dirty="0" err="1"/>
              <a:t>parámetros</a:t>
            </a:r>
            <a:r>
              <a:rPr lang="en-US" dirty="0"/>
              <a:t> de </a:t>
            </a:r>
            <a:r>
              <a:rPr lang="en-US" dirty="0" err="1"/>
              <a:t>filtrado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Herramienta</a:t>
            </a:r>
            <a:endParaRPr lang="en-US" b="1" dirty="0"/>
          </a:p>
          <a:p>
            <a:r>
              <a:rPr lang="en-US" dirty="0" err="1"/>
              <a:t>plotQualityProfile</a:t>
            </a:r>
            <a:r>
              <a:rPr lang="en-US" dirty="0"/>
              <a:t>(</a:t>
            </a:r>
            <a:r>
              <a:rPr lang="en-US" dirty="0" err="1"/>
              <a:t>fnFs</a:t>
            </a:r>
            <a:r>
              <a:rPr lang="en-US" dirty="0"/>
              <a:t>[1:4])</a:t>
            </a:r>
          </a:p>
          <a:p>
            <a:pPr marL="0" indent="0">
              <a:buNone/>
            </a:pPr>
            <a:r>
              <a:rPr lang="en-US" b="1" dirty="0" err="1"/>
              <a:t>Elementos</a:t>
            </a:r>
            <a:r>
              <a:rPr lang="en-US" b="1" dirty="0"/>
              <a:t> del </a:t>
            </a:r>
            <a:r>
              <a:rPr lang="en-US" b="1" dirty="0" err="1"/>
              <a:t>Gráfico</a:t>
            </a:r>
            <a:endParaRPr lang="en-US" b="1" dirty="0"/>
          </a:p>
          <a:p>
            <a:r>
              <a:rPr lang="en-US" b="1" dirty="0"/>
              <a:t>Línea </a:t>
            </a:r>
            <a:r>
              <a:rPr lang="en-US" b="1" dirty="0" err="1"/>
              <a:t>verde</a:t>
            </a:r>
            <a:r>
              <a:rPr lang="en-US" dirty="0"/>
              <a:t>: Calidad media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posición</a:t>
            </a:r>
            <a:endParaRPr lang="en-US" dirty="0"/>
          </a:p>
          <a:p>
            <a:r>
              <a:rPr lang="en-US" b="1" dirty="0" err="1"/>
              <a:t>Cuartiles</a:t>
            </a:r>
            <a:r>
              <a:rPr lang="en-US" b="1" dirty="0"/>
              <a:t> </a:t>
            </a:r>
            <a:r>
              <a:rPr lang="en-US" b="1" dirty="0" err="1"/>
              <a:t>naranjas</a:t>
            </a:r>
            <a:r>
              <a:rPr lang="en-US" dirty="0"/>
              <a:t>: </a:t>
            </a:r>
            <a:r>
              <a:rPr lang="en-US" dirty="0" err="1"/>
              <a:t>Distribución</a:t>
            </a:r>
            <a:r>
              <a:rPr lang="en-US" dirty="0"/>
              <a:t> de </a:t>
            </a:r>
            <a:r>
              <a:rPr lang="en-US" dirty="0" err="1"/>
              <a:t>calidades</a:t>
            </a:r>
            <a:endParaRPr lang="en-US" dirty="0"/>
          </a:p>
          <a:p>
            <a:r>
              <a:rPr lang="en-US" b="1" dirty="0"/>
              <a:t>Línea </a:t>
            </a:r>
            <a:r>
              <a:rPr lang="en-US" b="1" dirty="0" err="1"/>
              <a:t>roja</a:t>
            </a:r>
            <a:r>
              <a:rPr lang="en-US" dirty="0"/>
              <a:t>: </a:t>
            </a:r>
            <a:r>
              <a:rPr lang="en-US" dirty="0" err="1"/>
              <a:t>Proporción</a:t>
            </a:r>
            <a:r>
              <a:rPr lang="en-US" dirty="0"/>
              <a:t> de </a:t>
            </a:r>
            <a:r>
              <a:rPr lang="en-US" dirty="0" err="1"/>
              <a:t>lecturas</a:t>
            </a:r>
            <a:endParaRPr lang="en-US" dirty="0"/>
          </a:p>
          <a:p>
            <a:r>
              <a:rPr lang="en-US" b="1" dirty="0"/>
              <a:t>Mapa de </a:t>
            </a:r>
            <a:r>
              <a:rPr lang="en-US" b="1" dirty="0" err="1"/>
              <a:t>calor</a:t>
            </a:r>
            <a:r>
              <a:rPr lang="en-US" dirty="0"/>
              <a:t>: </a:t>
            </a:r>
            <a:r>
              <a:rPr lang="en-US" dirty="0" err="1"/>
              <a:t>Frecuencia</a:t>
            </a:r>
            <a:r>
              <a:rPr lang="en-US" dirty="0"/>
              <a:t> de scores</a:t>
            </a:r>
          </a:p>
          <a:p>
            <a:pPr marL="0" indent="0">
              <a:buNone/>
            </a:pPr>
            <a:r>
              <a:rPr lang="en-US" b="1" dirty="0" err="1"/>
              <a:t>Interpretación</a:t>
            </a:r>
            <a:endParaRPr lang="en-US" b="1" dirty="0"/>
          </a:p>
          <a:p>
            <a:r>
              <a:rPr lang="en-US" b="1" dirty="0"/>
              <a:t>Q30</a:t>
            </a:r>
            <a:r>
              <a:rPr lang="en-US" dirty="0"/>
              <a:t>: 99.9% </a:t>
            </a:r>
            <a:r>
              <a:rPr lang="en-US" dirty="0" err="1"/>
              <a:t>precisión</a:t>
            </a:r>
            <a:r>
              <a:rPr lang="en-US" dirty="0"/>
              <a:t> </a:t>
            </a:r>
            <a:r>
              <a:rPr lang="en-MX" dirty="0"/>
              <a:t>✅</a:t>
            </a:r>
          </a:p>
          <a:p>
            <a:r>
              <a:rPr lang="en-US" b="1" dirty="0"/>
              <a:t>Q20</a:t>
            </a:r>
            <a:r>
              <a:rPr lang="en-US" dirty="0"/>
              <a:t>: 99% </a:t>
            </a:r>
            <a:r>
              <a:rPr lang="en-US" dirty="0" err="1"/>
              <a:t>precisión</a:t>
            </a:r>
            <a:r>
              <a:rPr lang="en-US" dirty="0"/>
              <a:t> ⚠️</a:t>
            </a:r>
          </a:p>
          <a:p>
            <a:r>
              <a:rPr lang="en-US" b="1" dirty="0"/>
              <a:t>Q &lt; 20</a:t>
            </a:r>
            <a:r>
              <a:rPr lang="en-US" dirty="0"/>
              <a:t>: Mala </a:t>
            </a:r>
            <a:r>
              <a:rPr lang="en-US" dirty="0" err="1"/>
              <a:t>calidad</a:t>
            </a:r>
            <a:r>
              <a:rPr lang="en-US" dirty="0"/>
              <a:t> </a:t>
            </a:r>
            <a:r>
              <a:rPr lang="en-MX" dirty="0"/>
              <a:t>❌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7658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39BC-9960-BCE2-E69A-10B51053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PASO 2: </a:t>
            </a:r>
            <a:r>
              <a:rPr lang="en-US" b="1" dirty="0" err="1"/>
              <a:t>Filtrado</a:t>
            </a:r>
            <a:r>
              <a:rPr lang="en-US" b="1" dirty="0"/>
              <a:t> y </a:t>
            </a:r>
            <a:r>
              <a:rPr lang="en-US" b="1" dirty="0" err="1"/>
              <a:t>Recorte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D839-475E-9827-1BCF-F1B8CB5E2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err="1"/>
              <a:t>Objetivo</a:t>
            </a:r>
            <a:endParaRPr lang="en-US" b="1" dirty="0"/>
          </a:p>
          <a:p>
            <a:r>
              <a:rPr lang="en-US" dirty="0" err="1"/>
              <a:t>Eliminar</a:t>
            </a:r>
            <a:r>
              <a:rPr lang="en-US" dirty="0"/>
              <a:t> </a:t>
            </a:r>
            <a:r>
              <a:rPr lang="en-US" dirty="0" err="1"/>
              <a:t>lecturas</a:t>
            </a:r>
            <a:r>
              <a:rPr lang="en-US" dirty="0"/>
              <a:t> de baja </a:t>
            </a:r>
            <a:r>
              <a:rPr lang="en-US" dirty="0" err="1"/>
              <a:t>calidad</a:t>
            </a:r>
            <a:r>
              <a:rPr lang="en-US" dirty="0"/>
              <a:t> y </a:t>
            </a:r>
            <a:r>
              <a:rPr lang="en-US" dirty="0" err="1"/>
              <a:t>recortar</a:t>
            </a:r>
            <a:r>
              <a:rPr lang="en-US" dirty="0"/>
              <a:t> regiones </a:t>
            </a:r>
            <a:r>
              <a:rPr lang="en-US" dirty="0" err="1"/>
              <a:t>problemáticas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Parámetros</a:t>
            </a:r>
            <a:r>
              <a:rPr lang="en-US" b="1" dirty="0"/>
              <a:t> Clave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filterAndTrim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truncLen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c(240, 200),  #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Truncar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 y 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trimLeft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c(20, 20),    # Remover primers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maxEE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c(2, 2),         #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Errores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esperados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máximos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maxN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0,                # No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permitir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rm.phix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           # Remover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PhiX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Expected Errors (EE)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EE = </a:t>
            </a:r>
            <a:r>
              <a:rPr lang="el-GR" sz="29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Σ(10^(-</a:t>
            </a:r>
            <a:r>
              <a:rPr lang="en-US" sz="29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Q/10))</a:t>
            </a:r>
          </a:p>
          <a:p>
            <a:r>
              <a:rPr lang="en-US" dirty="0"/>
              <a:t>Más </a:t>
            </a:r>
            <a:r>
              <a:rPr lang="en-US" dirty="0" err="1"/>
              <a:t>informativo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Q </a:t>
            </a:r>
            <a:r>
              <a:rPr lang="en-US" dirty="0" err="1"/>
              <a:t>promedio</a:t>
            </a:r>
            <a:endParaRPr lang="en-US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52407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124244-361C-1F6F-1223-2CAEC138B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672786"/>
              </p:ext>
            </p:extLst>
          </p:nvPr>
        </p:nvGraphicFramePr>
        <p:xfrm>
          <a:off x="1548519" y="1908085"/>
          <a:ext cx="9094962" cy="446171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031654">
                  <a:extLst>
                    <a:ext uri="{9D8B030D-6E8A-4147-A177-3AD203B41FA5}">
                      <a16:colId xmlns:a16="http://schemas.microsoft.com/office/drawing/2014/main" val="2786506655"/>
                    </a:ext>
                  </a:extLst>
                </a:gridCol>
                <a:gridCol w="3031654">
                  <a:extLst>
                    <a:ext uri="{9D8B030D-6E8A-4147-A177-3AD203B41FA5}">
                      <a16:colId xmlns:a16="http://schemas.microsoft.com/office/drawing/2014/main" val="3968626740"/>
                    </a:ext>
                  </a:extLst>
                </a:gridCol>
                <a:gridCol w="3031654">
                  <a:extLst>
                    <a:ext uri="{9D8B030D-6E8A-4147-A177-3AD203B41FA5}">
                      <a16:colId xmlns:a16="http://schemas.microsoft.com/office/drawing/2014/main" val="106013924"/>
                    </a:ext>
                  </a:extLst>
                </a:gridCol>
              </a:tblGrid>
              <a:tr h="1400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Parámetro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Valor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Significado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3220037808"/>
                  </a:ext>
                </a:extLst>
              </a:tr>
              <a:tr h="6366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truncLen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calculado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Corta lecturas a esta longitud (basado en calidad)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3221304812"/>
                  </a:ext>
                </a:extLst>
              </a:tr>
              <a:tr h="6366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maxN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X" sz="1600" u="none" strike="noStrike">
                          <a:effectLst/>
                        </a:rPr>
                        <a:t>0</a:t>
                      </a:r>
                      <a:endParaRPr lang="en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Elimina lecturas con bases ambiguas (N)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2044238839"/>
                  </a:ext>
                </a:extLst>
              </a:tr>
              <a:tr h="6366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maxEE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X" sz="1600" u="none" strike="noStrike">
                          <a:effectLst/>
                        </a:rPr>
                        <a:t>2,2</a:t>
                      </a:r>
                      <a:endParaRPr lang="en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Máximo 2 errores esperados por lectura F/R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2706111145"/>
                  </a:ext>
                </a:extLst>
              </a:tr>
              <a:tr h="5106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truncQ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X" sz="1600" u="none" strike="noStrike">
                          <a:effectLst/>
                        </a:rPr>
                        <a:t>2</a:t>
                      </a:r>
                      <a:endParaRPr lang="en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Trunca cuando encuentra Q &lt;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3171562010"/>
                  </a:ext>
                </a:extLst>
              </a:tr>
              <a:tr h="5106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rm.phix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TRUE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Remueve contaminación del control PhiX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3638346216"/>
                  </a:ext>
                </a:extLst>
              </a:tr>
              <a:tr h="5106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compress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TRUE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Comprime archivos filtrados (gzip)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1651087360"/>
                  </a:ext>
                </a:extLst>
              </a:tr>
              <a:tr h="384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multithread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TRUE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Usa todos los núcleos disponibles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2412076446"/>
                  </a:ext>
                </a:extLst>
              </a:tr>
              <a:tr h="3846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matchIDs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TRUE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Asegura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pareado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correcto</a:t>
                      </a:r>
                      <a:r>
                        <a:rPr lang="en-US" sz="1600" u="none" strike="noStrike" dirty="0">
                          <a:effectLst/>
                        </a:rPr>
                        <a:t> F/R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64" marR="6564" marT="6564" marB="0" anchor="b"/>
                </a:tc>
                <a:extLst>
                  <a:ext uri="{0D108BD9-81ED-4DB2-BD59-A6C34878D82A}">
                    <a16:rowId xmlns:a16="http://schemas.microsoft.com/office/drawing/2014/main" val="3695138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477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7D8-5653-D014-4259-7691AB9E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Cálculo</a:t>
            </a:r>
            <a:r>
              <a:rPr lang="en-US" b="1" dirty="0"/>
              <a:t> de </a:t>
            </a:r>
            <a:r>
              <a:rPr lang="en-US" b="1" dirty="0" err="1"/>
              <a:t>Truncamiento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E2134-77EC-4CCE-4189-9150DC3AF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Fórmula</a:t>
            </a:r>
            <a:r>
              <a:rPr lang="en-US" b="1" dirty="0"/>
              <a:t> </a:t>
            </a:r>
            <a:r>
              <a:rPr lang="en-US" b="1" dirty="0" err="1"/>
              <a:t>Crítica</a:t>
            </a:r>
            <a:endParaRPr lang="en-US" b="1" dirty="0"/>
          </a:p>
          <a:p>
            <a:r>
              <a:rPr lang="en-US" dirty="0" err="1"/>
              <a:t>Solapamiento</a:t>
            </a:r>
            <a:r>
              <a:rPr lang="en-US" dirty="0"/>
              <a:t> = </a:t>
            </a:r>
            <a:r>
              <a:rPr lang="en-US" dirty="0" err="1"/>
              <a:t>truncLen</a:t>
            </a:r>
            <a:r>
              <a:rPr lang="en-US" dirty="0"/>
              <a:t>[1] + </a:t>
            </a:r>
            <a:r>
              <a:rPr lang="en-US" dirty="0" err="1"/>
              <a:t>truncLen</a:t>
            </a:r>
            <a:r>
              <a:rPr lang="en-US" dirty="0"/>
              <a:t>[2] - </a:t>
            </a:r>
            <a:r>
              <a:rPr lang="en-US" dirty="0" err="1"/>
              <a:t>longitud_amplicón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Ejemplo</a:t>
            </a:r>
            <a:r>
              <a:rPr lang="en-US" b="1" dirty="0"/>
              <a:t>: 18S V4 (380 bp)</a:t>
            </a:r>
          </a:p>
          <a:p>
            <a:r>
              <a:rPr lang="en-US" dirty="0" err="1"/>
              <a:t>truncLen</a:t>
            </a:r>
            <a:r>
              <a:rPr lang="en-US" dirty="0"/>
              <a:t> = c(240, 200)</a:t>
            </a:r>
          </a:p>
          <a:p>
            <a:r>
              <a:rPr lang="en-US" dirty="0" err="1"/>
              <a:t>Solapamiento</a:t>
            </a:r>
            <a:r>
              <a:rPr lang="en-US" dirty="0"/>
              <a:t> = 240 + 200 - 380 = 60 bp </a:t>
            </a:r>
            <a:r>
              <a:rPr lang="en-MX" dirty="0"/>
              <a:t>✅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Reglas</a:t>
            </a:r>
          </a:p>
          <a:p>
            <a:r>
              <a:rPr lang="en-US" dirty="0" err="1"/>
              <a:t>Solapamiento</a:t>
            </a:r>
            <a:r>
              <a:rPr lang="en-US" dirty="0"/>
              <a:t> </a:t>
            </a:r>
            <a:r>
              <a:rPr lang="en-US" dirty="0" err="1"/>
              <a:t>mínimo</a:t>
            </a:r>
            <a:r>
              <a:rPr lang="en-US" dirty="0"/>
              <a:t>: </a:t>
            </a:r>
            <a:r>
              <a:rPr lang="en-US" b="1" dirty="0"/>
              <a:t>12 bp</a:t>
            </a:r>
            <a:r>
              <a:rPr lang="en-US" dirty="0"/>
              <a:t> (default)</a:t>
            </a:r>
          </a:p>
          <a:p>
            <a:r>
              <a:rPr lang="en-US" dirty="0" err="1"/>
              <a:t>Recomendado</a:t>
            </a:r>
            <a:r>
              <a:rPr lang="en-US" dirty="0"/>
              <a:t>: </a:t>
            </a:r>
            <a:r>
              <a:rPr lang="en-US" b="1" dirty="0"/>
              <a:t>≥ 20 bp</a:t>
            </a:r>
            <a:endParaRPr lang="en-US" dirty="0"/>
          </a:p>
          <a:p>
            <a:r>
              <a:rPr lang="en-US" dirty="0"/>
              <a:t>Más </a:t>
            </a:r>
            <a:r>
              <a:rPr lang="en-US" dirty="0" err="1"/>
              <a:t>solapamiento</a:t>
            </a:r>
            <a:r>
              <a:rPr lang="en-US" dirty="0"/>
              <a:t> = mayor </a:t>
            </a:r>
            <a:r>
              <a:rPr lang="en-US" dirty="0" err="1"/>
              <a:t>confianza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merge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12132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B159-A0C4-DE4C-8CC2-3F38A9B3F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PASO 3: </a:t>
            </a:r>
            <a:r>
              <a:rPr lang="en-US" b="1" dirty="0" err="1"/>
              <a:t>Modelo</a:t>
            </a:r>
            <a:r>
              <a:rPr lang="en-US" b="1" dirty="0"/>
              <a:t> de Error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32234-C54B-8DBE-F0E3-4D7F6917C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Objetivo</a:t>
            </a:r>
            <a:endParaRPr lang="en-US" b="1" dirty="0"/>
          </a:p>
          <a:p>
            <a:r>
              <a:rPr lang="en-US" dirty="0" err="1"/>
              <a:t>Construir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específico</a:t>
            </a:r>
            <a:r>
              <a:rPr lang="en-US" dirty="0"/>
              <a:t> de </a:t>
            </a:r>
            <a:r>
              <a:rPr lang="en-US" dirty="0" err="1"/>
              <a:t>errores</a:t>
            </a:r>
            <a:r>
              <a:rPr lang="en-US" dirty="0"/>
              <a:t> de </a:t>
            </a:r>
            <a:r>
              <a:rPr lang="en-US" dirty="0" err="1"/>
              <a:t>secuenciación</a:t>
            </a:r>
            <a:r>
              <a:rPr lang="en-US" dirty="0"/>
              <a:t> de </a:t>
            </a:r>
            <a:r>
              <a:rPr lang="en-US" dirty="0" err="1"/>
              <a:t>tu</a:t>
            </a:r>
            <a:r>
              <a:rPr lang="en-US" dirty="0"/>
              <a:t> corrida</a:t>
            </a:r>
          </a:p>
          <a:p>
            <a:pPr marL="0" indent="0">
              <a:buNone/>
            </a:pPr>
            <a:r>
              <a:rPr lang="en-US" b="1" dirty="0"/>
              <a:t>¿Por </a:t>
            </a:r>
            <a:r>
              <a:rPr lang="en-US" b="1" dirty="0" err="1"/>
              <a:t>qué</a:t>
            </a:r>
            <a:r>
              <a:rPr lang="en-US" b="1" dirty="0"/>
              <a:t> es </a:t>
            </a:r>
            <a:r>
              <a:rPr lang="en-US" b="1" dirty="0" err="1"/>
              <a:t>importante</a:t>
            </a:r>
            <a:r>
              <a:rPr lang="en-US" b="1" dirty="0"/>
              <a:t>?</a:t>
            </a:r>
          </a:p>
          <a:p>
            <a:r>
              <a:rPr lang="en-US" dirty="0"/>
              <a:t>Cada </a:t>
            </a:r>
            <a:r>
              <a:rPr lang="en-US" dirty="0" err="1"/>
              <a:t>secuenciador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perfil</a:t>
            </a:r>
            <a:r>
              <a:rPr lang="en-US" dirty="0"/>
              <a:t> </a:t>
            </a:r>
            <a:r>
              <a:rPr lang="en-US" dirty="0" err="1"/>
              <a:t>único</a:t>
            </a:r>
            <a:r>
              <a:rPr lang="en-US" dirty="0"/>
              <a:t> de </a:t>
            </a:r>
            <a:r>
              <a:rPr lang="en-US" dirty="0" err="1"/>
              <a:t>errores</a:t>
            </a:r>
            <a:endParaRPr lang="en-US" dirty="0"/>
          </a:p>
          <a:p>
            <a:r>
              <a:rPr lang="en-US" dirty="0" err="1"/>
              <a:t>Errores</a:t>
            </a:r>
            <a:r>
              <a:rPr lang="en-US" dirty="0"/>
              <a:t> no son </a:t>
            </a:r>
            <a:r>
              <a:rPr lang="en-US" dirty="0" err="1"/>
              <a:t>aleatorios</a:t>
            </a:r>
            <a:endParaRPr lang="en-US" dirty="0"/>
          </a:p>
          <a:p>
            <a:r>
              <a:rPr lang="en-US" dirty="0" err="1"/>
              <a:t>Dependen</a:t>
            </a:r>
            <a:r>
              <a:rPr lang="en-US" dirty="0"/>
              <a:t> de:</a:t>
            </a:r>
          </a:p>
          <a:p>
            <a:pPr lvl="1"/>
            <a:r>
              <a:rPr lang="en-US" dirty="0" err="1"/>
              <a:t>Contexto</a:t>
            </a:r>
            <a:r>
              <a:rPr lang="en-US" dirty="0"/>
              <a:t> de </a:t>
            </a:r>
            <a:r>
              <a:rPr lang="en-US" dirty="0" err="1"/>
              <a:t>secuencia</a:t>
            </a:r>
            <a:endParaRPr lang="en-US" dirty="0"/>
          </a:p>
          <a:p>
            <a:pPr lvl="1"/>
            <a:r>
              <a:rPr lang="en-US" dirty="0" err="1"/>
              <a:t>Posición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lectura</a:t>
            </a:r>
            <a:endParaRPr lang="en-US" dirty="0"/>
          </a:p>
          <a:p>
            <a:pPr lvl="1"/>
            <a:r>
              <a:rPr lang="en-US" dirty="0"/>
              <a:t>Calidad del </a:t>
            </a:r>
            <a:r>
              <a:rPr lang="en-US" dirty="0" err="1"/>
              <a:t>ciclo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Algoritmo</a:t>
            </a:r>
            <a:endParaRPr lang="en-US" b="1" dirty="0"/>
          </a:p>
          <a:p>
            <a:r>
              <a:rPr lang="en-US" dirty="0" err="1"/>
              <a:t>Inicia</a:t>
            </a:r>
            <a:r>
              <a:rPr lang="en-US" dirty="0"/>
              <a:t> con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paramétrico</a:t>
            </a:r>
            <a:endParaRPr lang="en-US" dirty="0"/>
          </a:p>
          <a:p>
            <a:r>
              <a:rPr lang="en-US" dirty="0" err="1"/>
              <a:t>Itera</a:t>
            </a:r>
            <a:r>
              <a:rPr lang="en-US" dirty="0"/>
              <a:t>: </a:t>
            </a:r>
            <a:r>
              <a:rPr lang="en-US" dirty="0" err="1"/>
              <a:t>inferencia</a:t>
            </a:r>
            <a:r>
              <a:rPr lang="en-US" dirty="0"/>
              <a:t> ↔ </a:t>
            </a:r>
            <a:r>
              <a:rPr lang="en-US" dirty="0" err="1"/>
              <a:t>estimación</a:t>
            </a:r>
            <a:endParaRPr lang="en-US" dirty="0"/>
          </a:p>
          <a:p>
            <a:r>
              <a:rPr lang="en-US" dirty="0"/>
              <a:t>Converge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se </a:t>
            </a:r>
            <a:r>
              <a:rPr lang="en-US" dirty="0" err="1"/>
              <a:t>estabiliza</a:t>
            </a:r>
            <a:endParaRPr lang="en-US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67577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5FA3-8823-4F76-BF84-7797C481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Interpretación</a:t>
            </a:r>
            <a:r>
              <a:rPr lang="en-US" b="1" dirty="0"/>
              <a:t> del </a:t>
            </a:r>
            <a:r>
              <a:rPr lang="en-US" b="1" dirty="0" err="1"/>
              <a:t>Modelo</a:t>
            </a:r>
            <a:r>
              <a:rPr lang="en-US" b="1" dirty="0"/>
              <a:t> de Error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FE183-3EF6-AB81-68FD-ABE022407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Gráfico</a:t>
            </a:r>
            <a:r>
              <a:rPr lang="en-US" b="1" dirty="0"/>
              <a:t> </a:t>
            </a:r>
            <a:r>
              <a:rPr lang="en-US" b="1" dirty="0" err="1"/>
              <a:t>plotErrors</a:t>
            </a:r>
            <a:r>
              <a:rPr lang="en-US" b="1" dirty="0"/>
              <a:t>()</a:t>
            </a:r>
          </a:p>
          <a:p>
            <a:r>
              <a:rPr lang="en-US" b="1" dirty="0" err="1"/>
              <a:t>Elementos</a:t>
            </a:r>
            <a:r>
              <a:rPr lang="en-US" b="1" dirty="0"/>
              <a:t>:</a:t>
            </a:r>
            <a:r>
              <a:rPr lang="en-US" dirty="0"/>
              <a:t> - </a:t>
            </a:r>
            <a:r>
              <a:rPr lang="en-US" b="1" dirty="0"/>
              <a:t>Puntos negros</a:t>
            </a:r>
            <a:r>
              <a:rPr lang="en-US" dirty="0"/>
              <a:t>: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observados</a:t>
            </a:r>
            <a:r>
              <a:rPr lang="en-US" dirty="0"/>
              <a:t> - </a:t>
            </a:r>
            <a:r>
              <a:rPr lang="en-US" b="1" dirty="0"/>
              <a:t>Línea </a:t>
            </a:r>
            <a:r>
              <a:rPr lang="en-US" b="1" dirty="0" err="1"/>
              <a:t>negra</a:t>
            </a:r>
            <a:r>
              <a:rPr lang="en-US" dirty="0"/>
              <a:t>: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ajustado</a:t>
            </a:r>
            <a:r>
              <a:rPr lang="en-US" dirty="0"/>
              <a:t> - </a:t>
            </a:r>
            <a:r>
              <a:rPr lang="en-US" b="1" dirty="0"/>
              <a:t>Línea </a:t>
            </a:r>
            <a:r>
              <a:rPr lang="en-US" b="1" dirty="0" err="1"/>
              <a:t>roja</a:t>
            </a:r>
            <a:r>
              <a:rPr lang="en-US" dirty="0"/>
              <a:t>: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teóricos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Buen </a:t>
            </a:r>
            <a:r>
              <a:rPr lang="en-US" b="1" dirty="0" err="1"/>
              <a:t>Modelo</a:t>
            </a:r>
            <a:endParaRPr lang="en-US" b="1" dirty="0"/>
          </a:p>
          <a:p>
            <a:r>
              <a:rPr lang="en-US" dirty="0"/>
              <a:t>Línea </a:t>
            </a:r>
            <a:r>
              <a:rPr lang="en-US" dirty="0" err="1"/>
              <a:t>sigue</a:t>
            </a:r>
            <a:r>
              <a:rPr lang="en-US" dirty="0"/>
              <a:t> </a:t>
            </a:r>
            <a:r>
              <a:rPr lang="en-US" dirty="0" err="1"/>
              <a:t>tendencia</a:t>
            </a:r>
            <a:r>
              <a:rPr lang="en-US" dirty="0"/>
              <a:t> de puntos</a:t>
            </a:r>
          </a:p>
          <a:p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disminuyen</a:t>
            </a:r>
            <a:r>
              <a:rPr lang="en-US" dirty="0"/>
              <a:t> con mayor Q</a:t>
            </a:r>
          </a:p>
          <a:p>
            <a:r>
              <a:rPr lang="en-US" dirty="0"/>
              <a:t>A→G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común</a:t>
            </a:r>
            <a:r>
              <a:rPr lang="en-US" dirty="0"/>
              <a:t> (</a:t>
            </a:r>
            <a:r>
              <a:rPr lang="en-US" dirty="0" err="1"/>
              <a:t>típico</a:t>
            </a:r>
            <a:r>
              <a:rPr lang="en-US" dirty="0"/>
              <a:t> Illumina)</a:t>
            </a:r>
          </a:p>
          <a:p>
            <a:pPr marL="0" indent="0">
              <a:buNone/>
            </a:pPr>
            <a:endParaRPr lang="en-MX" b="1" dirty="0"/>
          </a:p>
          <a:p>
            <a:pPr marL="0" indent="0">
              <a:buNone/>
            </a:pPr>
            <a:r>
              <a:rPr lang="en-US" b="1" dirty="0" err="1"/>
              <a:t>Modelo</a:t>
            </a:r>
            <a:r>
              <a:rPr lang="en-US" b="1" dirty="0"/>
              <a:t> </a:t>
            </a:r>
            <a:r>
              <a:rPr lang="en-US" b="1" dirty="0" err="1"/>
              <a:t>Problemático</a:t>
            </a:r>
            <a:endParaRPr lang="en-US" b="1" dirty="0"/>
          </a:p>
          <a:p>
            <a:r>
              <a:rPr lang="en-US" dirty="0"/>
              <a:t>Línea </a:t>
            </a:r>
            <a:r>
              <a:rPr lang="en-US" dirty="0" err="1"/>
              <a:t>errática</a:t>
            </a:r>
            <a:r>
              <a:rPr lang="en-US" dirty="0"/>
              <a:t> o plana</a:t>
            </a:r>
          </a:p>
          <a:p>
            <a:r>
              <a:rPr lang="en-US" dirty="0"/>
              <a:t>No </a:t>
            </a:r>
            <a:r>
              <a:rPr lang="en-US" dirty="0" err="1"/>
              <a:t>sigue</a:t>
            </a:r>
            <a:r>
              <a:rPr lang="en-US" dirty="0"/>
              <a:t> </a:t>
            </a:r>
            <a:r>
              <a:rPr lang="en-US" dirty="0" err="1"/>
              <a:t>tendencia</a:t>
            </a:r>
            <a:endParaRPr lang="en-US" dirty="0"/>
          </a:p>
          <a:p>
            <a:r>
              <a:rPr lang="en-US" dirty="0"/>
              <a:t>Datos </a:t>
            </a:r>
            <a:r>
              <a:rPr lang="en-US" dirty="0" err="1"/>
              <a:t>insuficientes</a:t>
            </a:r>
            <a:r>
              <a:rPr lang="en-US" dirty="0"/>
              <a:t> o </a:t>
            </a:r>
            <a:r>
              <a:rPr lang="en-US" dirty="0" err="1"/>
              <a:t>muy</a:t>
            </a:r>
            <a:r>
              <a:rPr lang="en-US" dirty="0"/>
              <a:t> baja </a:t>
            </a:r>
            <a:r>
              <a:rPr lang="en-US" dirty="0" err="1"/>
              <a:t>calidad</a:t>
            </a:r>
            <a:endParaRPr lang="en-US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783330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A09E-2109-E319-CE39-29B637CF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PASO 4: </a:t>
            </a:r>
            <a:r>
              <a:rPr lang="en-US" b="1" dirty="0" err="1"/>
              <a:t>Inferencia</a:t>
            </a:r>
            <a:r>
              <a:rPr lang="en-US" b="1" dirty="0"/>
              <a:t> de ASVs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23E7D-D4F6-CA97-DF6D-403D09B3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Algoritmo</a:t>
            </a:r>
            <a:r>
              <a:rPr lang="en-US" b="1" dirty="0"/>
              <a:t> DADA2</a:t>
            </a:r>
          </a:p>
          <a:p>
            <a:r>
              <a:rPr lang="en-US" b="1" dirty="0" err="1"/>
              <a:t>Derreplicación</a:t>
            </a:r>
            <a:r>
              <a:rPr lang="en-US" dirty="0"/>
              <a:t>: </a:t>
            </a:r>
            <a:r>
              <a:rPr lang="en-US" dirty="0" err="1"/>
              <a:t>Agrupar</a:t>
            </a:r>
            <a:r>
              <a:rPr lang="en-US" dirty="0"/>
              <a:t> </a:t>
            </a:r>
            <a:r>
              <a:rPr lang="en-US" dirty="0" err="1"/>
              <a:t>secuencias</a:t>
            </a:r>
            <a:r>
              <a:rPr lang="en-US" dirty="0"/>
              <a:t> </a:t>
            </a:r>
            <a:r>
              <a:rPr lang="en-US" dirty="0" err="1"/>
              <a:t>idénticas</a:t>
            </a:r>
            <a:endParaRPr lang="en-US" dirty="0"/>
          </a:p>
          <a:p>
            <a:r>
              <a:rPr lang="en-US" b="1" dirty="0" err="1"/>
              <a:t>Particionamiento</a:t>
            </a:r>
            <a:r>
              <a:rPr lang="en-US" dirty="0"/>
              <a:t>: </a:t>
            </a:r>
            <a:r>
              <a:rPr lang="en-US" dirty="0" err="1"/>
              <a:t>Dividir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grupos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abundancia</a:t>
            </a:r>
            <a:endParaRPr lang="en-US" dirty="0"/>
          </a:p>
          <a:p>
            <a:r>
              <a:rPr lang="en-US" b="1" dirty="0" err="1"/>
              <a:t>Comparación</a:t>
            </a:r>
            <a:r>
              <a:rPr lang="en-US" dirty="0"/>
              <a:t>: Raras vs </a:t>
            </a:r>
            <a:r>
              <a:rPr lang="en-US" dirty="0" err="1"/>
              <a:t>abundantes</a:t>
            </a:r>
            <a:endParaRPr lang="en-US" dirty="0"/>
          </a:p>
          <a:p>
            <a:r>
              <a:rPr lang="en-US" b="1" dirty="0" err="1"/>
              <a:t>Decisión</a:t>
            </a:r>
            <a:r>
              <a:rPr lang="en-US" dirty="0"/>
              <a:t>: ¿Error o </a:t>
            </a:r>
            <a:r>
              <a:rPr lang="en-US" dirty="0" err="1"/>
              <a:t>variante</a:t>
            </a:r>
            <a:r>
              <a:rPr lang="en-US" dirty="0"/>
              <a:t> real?</a:t>
            </a:r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r>
              <a:rPr lang="en-US" b="1" dirty="0" err="1"/>
              <a:t>Criterio</a:t>
            </a:r>
            <a:r>
              <a:rPr lang="en-US" b="1" dirty="0"/>
              <a:t> de </a:t>
            </a:r>
            <a:r>
              <a:rPr lang="en-US" b="1" dirty="0" err="1"/>
              <a:t>Decisión</a:t>
            </a:r>
            <a:endParaRPr lang="en-US" b="1" dirty="0"/>
          </a:p>
          <a:p>
            <a:r>
              <a:rPr lang="en-US" dirty="0"/>
              <a:t>P(</a:t>
            </a:r>
            <a:r>
              <a:rPr lang="en-US" dirty="0" err="1"/>
              <a:t>observar</a:t>
            </a:r>
            <a:r>
              <a:rPr lang="en-US" dirty="0"/>
              <a:t> rara | </a:t>
            </a:r>
            <a:r>
              <a:rPr lang="en-US" dirty="0" err="1"/>
              <a:t>abundante</a:t>
            </a:r>
            <a:r>
              <a:rPr lang="en-US" dirty="0"/>
              <a:t> es </a:t>
            </a:r>
            <a:r>
              <a:rPr lang="en-US" dirty="0" err="1"/>
              <a:t>verdadera</a:t>
            </a:r>
            <a:r>
              <a:rPr lang="en-US" dirty="0"/>
              <a:t>)</a:t>
            </a:r>
          </a:p>
          <a:p>
            <a:r>
              <a:rPr lang="en-US" dirty="0"/>
              <a:t>Si P &gt; umbral (1e-40): Es error</a:t>
            </a:r>
          </a:p>
          <a:p>
            <a:r>
              <a:rPr lang="en-US" dirty="0"/>
              <a:t>Si P &lt; umbral: Es ASV </a:t>
            </a:r>
            <a:r>
              <a:rPr lang="en-US" dirty="0" err="1"/>
              <a:t>independiente</a:t>
            </a:r>
            <a:endParaRPr lang="en-US" dirty="0"/>
          </a:p>
          <a:p>
            <a:pPr marL="0" indent="0"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1811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715C-EC95-6DB7-C141-FCEAA6C2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Opciones</a:t>
            </a:r>
            <a:r>
              <a:rPr lang="en-US" b="1" dirty="0"/>
              <a:t> de Pooling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43E3-3799-27FA-6CDE-A5A02F732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pool = FALSE (Default)</a:t>
            </a:r>
          </a:p>
          <a:p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independientemente</a:t>
            </a:r>
            <a:endParaRPr lang="en-US" dirty="0"/>
          </a:p>
          <a:p>
            <a:r>
              <a:rPr lang="en-US" b="1" dirty="0" err="1"/>
              <a:t>Ventaja</a:t>
            </a:r>
            <a:r>
              <a:rPr lang="en-US" dirty="0"/>
              <a:t>: </a:t>
            </a:r>
            <a:r>
              <a:rPr lang="en-US" dirty="0" err="1"/>
              <a:t>Rápido</a:t>
            </a:r>
            <a:r>
              <a:rPr lang="en-US" dirty="0"/>
              <a:t>, </a:t>
            </a:r>
            <a:r>
              <a:rPr lang="en-US" dirty="0" err="1"/>
              <a:t>conservador</a:t>
            </a:r>
            <a:endParaRPr lang="en-US" dirty="0"/>
          </a:p>
          <a:p>
            <a:r>
              <a:rPr lang="en-US" b="1" dirty="0" err="1"/>
              <a:t>Desventaja</a:t>
            </a:r>
            <a:r>
              <a:rPr lang="en-US" dirty="0"/>
              <a:t>: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perder</a:t>
            </a:r>
            <a:r>
              <a:rPr lang="en-US" dirty="0"/>
              <a:t> </a:t>
            </a:r>
            <a:r>
              <a:rPr lang="en-US" dirty="0" err="1"/>
              <a:t>variantes</a:t>
            </a:r>
            <a:r>
              <a:rPr lang="en-US" dirty="0"/>
              <a:t> </a:t>
            </a:r>
            <a:r>
              <a:rPr lang="en-US" dirty="0" err="1"/>
              <a:t>raras</a:t>
            </a:r>
            <a:r>
              <a:rPr lang="en-US" dirty="0"/>
              <a:t> </a:t>
            </a:r>
            <a:r>
              <a:rPr lang="en-US" dirty="0" err="1"/>
              <a:t>compartidas</a:t>
            </a:r>
            <a:endParaRPr lang="en-US" dirty="0"/>
          </a:p>
          <a:p>
            <a:r>
              <a:rPr lang="en-US" b="1" dirty="0"/>
              <a:t>Uso</a:t>
            </a:r>
            <a:r>
              <a:rPr lang="en-US" dirty="0"/>
              <a:t>: </a:t>
            </a:r>
            <a:r>
              <a:rPr lang="en-US" dirty="0" err="1"/>
              <a:t>Exploración</a:t>
            </a:r>
            <a:r>
              <a:rPr lang="en-US" dirty="0"/>
              <a:t> </a:t>
            </a:r>
            <a:r>
              <a:rPr lang="en-US" dirty="0" err="1"/>
              <a:t>rápida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pool = TRUE</a:t>
            </a:r>
          </a:p>
          <a:p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muestras</a:t>
            </a:r>
            <a:r>
              <a:rPr lang="en-US" dirty="0"/>
              <a:t> juntas</a:t>
            </a:r>
          </a:p>
          <a:p>
            <a:r>
              <a:rPr lang="en-US" b="1" dirty="0" err="1"/>
              <a:t>Ventaja</a:t>
            </a:r>
            <a:r>
              <a:rPr lang="en-US" dirty="0"/>
              <a:t>: </a:t>
            </a:r>
            <a:r>
              <a:rPr lang="en-US" dirty="0" err="1"/>
              <a:t>Detecta</a:t>
            </a:r>
            <a:r>
              <a:rPr lang="en-US" dirty="0"/>
              <a:t> </a:t>
            </a:r>
            <a:r>
              <a:rPr lang="en-US" dirty="0" err="1"/>
              <a:t>variantes</a:t>
            </a:r>
            <a:r>
              <a:rPr lang="en-US" dirty="0"/>
              <a:t> </a:t>
            </a:r>
            <a:r>
              <a:rPr lang="en-US" dirty="0" err="1"/>
              <a:t>raras</a:t>
            </a:r>
            <a:endParaRPr lang="en-US" dirty="0"/>
          </a:p>
          <a:p>
            <a:r>
              <a:rPr lang="en-US" b="1" dirty="0" err="1"/>
              <a:t>Desventaja</a:t>
            </a:r>
            <a:r>
              <a:rPr lang="en-US" dirty="0"/>
              <a:t>: Muy lento,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falsos</a:t>
            </a:r>
            <a:r>
              <a:rPr lang="en-US" dirty="0"/>
              <a:t> </a:t>
            </a:r>
            <a:r>
              <a:rPr lang="en-US" dirty="0" err="1"/>
              <a:t>positivos</a:t>
            </a:r>
            <a:endParaRPr lang="en-US" dirty="0"/>
          </a:p>
          <a:p>
            <a:r>
              <a:rPr lang="en-US" b="1" dirty="0"/>
              <a:t>Uso</a:t>
            </a:r>
            <a:r>
              <a:rPr lang="en-US" dirty="0"/>
              <a:t>: Dataset </a:t>
            </a:r>
            <a:r>
              <a:rPr lang="en-US" dirty="0" err="1"/>
              <a:t>pequeño</a:t>
            </a:r>
            <a:r>
              <a:rPr lang="en-US" dirty="0"/>
              <a:t> (&lt;50 </a:t>
            </a:r>
            <a:r>
              <a:rPr lang="en-US" dirty="0" err="1"/>
              <a:t>muestras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pool = "pseudo"</a:t>
            </a:r>
          </a:p>
          <a:p>
            <a:r>
              <a:rPr lang="en-US" dirty="0" err="1"/>
              <a:t>Híbrido</a:t>
            </a:r>
            <a:r>
              <a:rPr lang="en-US" dirty="0"/>
              <a:t>: dos </a:t>
            </a:r>
            <a:r>
              <a:rPr lang="en-US" dirty="0" err="1"/>
              <a:t>pasadas</a:t>
            </a:r>
            <a:endParaRPr lang="en-US" dirty="0"/>
          </a:p>
          <a:p>
            <a:r>
              <a:rPr lang="en-US" b="1" dirty="0" err="1"/>
              <a:t>Ventaja</a:t>
            </a:r>
            <a:r>
              <a:rPr lang="en-US" dirty="0"/>
              <a:t>: Balance </a:t>
            </a:r>
            <a:r>
              <a:rPr lang="en-US" dirty="0" err="1"/>
              <a:t>sensibilidad</a:t>
            </a:r>
            <a:r>
              <a:rPr lang="en-US" dirty="0"/>
              <a:t>/</a:t>
            </a:r>
            <a:r>
              <a:rPr lang="en-US" dirty="0" err="1"/>
              <a:t>velocidad</a:t>
            </a:r>
            <a:endParaRPr lang="en-US" dirty="0"/>
          </a:p>
          <a:p>
            <a:r>
              <a:rPr lang="en-US" b="1" dirty="0" err="1"/>
              <a:t>Desventaja</a:t>
            </a:r>
            <a:r>
              <a:rPr lang="en-US" dirty="0"/>
              <a:t>: Tiempo </a:t>
            </a:r>
            <a:r>
              <a:rPr lang="en-US" dirty="0" err="1"/>
              <a:t>intermedio</a:t>
            </a:r>
            <a:endParaRPr lang="en-US" dirty="0"/>
          </a:p>
          <a:p>
            <a:r>
              <a:rPr lang="en-US" b="1" dirty="0"/>
              <a:t>Uso</a:t>
            </a:r>
            <a:r>
              <a:rPr lang="en-US" dirty="0"/>
              <a:t>: Dataset </a:t>
            </a:r>
            <a:r>
              <a:rPr lang="en-US" dirty="0" err="1"/>
              <a:t>grande</a:t>
            </a:r>
            <a:r>
              <a:rPr lang="en-US" dirty="0"/>
              <a:t> (&gt;50 </a:t>
            </a:r>
            <a:r>
              <a:rPr lang="en-US" dirty="0" err="1"/>
              <a:t>muestras</a:t>
            </a:r>
            <a:r>
              <a:rPr lang="en-US" dirty="0"/>
              <a:t>)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539984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1BBA-8CF6-31E1-2A28-42AE7CB5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PASO 5: Merge Paired-End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A25C-3C6E-33A6-B735-314A5263D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Objetivo</a:t>
            </a:r>
            <a:endParaRPr lang="en-US" b="1" dirty="0"/>
          </a:p>
          <a:p>
            <a:r>
              <a:rPr lang="en-US" dirty="0" err="1"/>
              <a:t>Combinar</a:t>
            </a:r>
            <a:r>
              <a:rPr lang="en-US" dirty="0"/>
              <a:t> </a:t>
            </a:r>
            <a:r>
              <a:rPr lang="en-US" dirty="0" err="1"/>
              <a:t>lecturas</a:t>
            </a:r>
            <a:r>
              <a:rPr lang="en-US" dirty="0"/>
              <a:t> Forward y Reverse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amplicones</a:t>
            </a:r>
            <a:r>
              <a:rPr lang="en-US" dirty="0"/>
              <a:t> </a:t>
            </a:r>
            <a:r>
              <a:rPr lang="en-US" dirty="0" err="1"/>
              <a:t>completos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Requisitos</a:t>
            </a:r>
            <a:endParaRPr lang="en-US" b="1" dirty="0"/>
          </a:p>
          <a:p>
            <a:r>
              <a:rPr lang="en-US" dirty="0" err="1"/>
              <a:t>Solapamiento</a:t>
            </a:r>
            <a:r>
              <a:rPr lang="en-US" dirty="0"/>
              <a:t> </a:t>
            </a:r>
            <a:r>
              <a:rPr lang="en-US" dirty="0" err="1"/>
              <a:t>mínimo</a:t>
            </a:r>
            <a:r>
              <a:rPr lang="en-US" dirty="0"/>
              <a:t>: 12 bp</a:t>
            </a:r>
          </a:p>
          <a:p>
            <a:r>
              <a:rPr lang="en-US" dirty="0" err="1"/>
              <a:t>Concordancia</a:t>
            </a:r>
            <a:r>
              <a:rPr lang="en-US" dirty="0"/>
              <a:t>: 0 mismatches (default)</a:t>
            </a:r>
          </a:p>
          <a:p>
            <a:r>
              <a:rPr lang="en-US" dirty="0" err="1"/>
              <a:t>Longitud</a:t>
            </a:r>
            <a:r>
              <a:rPr lang="en-US" dirty="0"/>
              <a:t> </a:t>
            </a:r>
            <a:r>
              <a:rPr lang="en-US" dirty="0" err="1"/>
              <a:t>adecuada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Parámetros</a:t>
            </a:r>
            <a:endParaRPr lang="en-US" b="1" dirty="0"/>
          </a:p>
          <a:p>
            <a:pPr marL="274638" indent="0" algn="ctr">
              <a:buNone/>
            </a:pP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mergePairs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dadaFs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derepFs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dadaRs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derepRs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minOverlap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12,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maxMismatch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0)</a:t>
            </a:r>
          </a:p>
          <a:p>
            <a:pPr marL="0" indent="0">
              <a:buNone/>
            </a:pPr>
            <a:r>
              <a:rPr lang="en-US" b="1" dirty="0" err="1"/>
              <a:t>Tasas</a:t>
            </a:r>
            <a:r>
              <a:rPr lang="en-US" b="1" dirty="0"/>
              <a:t> </a:t>
            </a:r>
            <a:r>
              <a:rPr lang="en-US" b="1" dirty="0" err="1"/>
              <a:t>Esperadas</a:t>
            </a:r>
            <a:endParaRPr lang="en-US" b="1" dirty="0"/>
          </a:p>
          <a:p>
            <a:r>
              <a:rPr lang="en-US" b="1" dirty="0"/>
              <a:t>&gt;80%</a:t>
            </a:r>
            <a:r>
              <a:rPr lang="en-US" dirty="0"/>
              <a:t>: </a:t>
            </a:r>
            <a:r>
              <a:rPr lang="en-US" dirty="0" err="1"/>
              <a:t>Excelente</a:t>
            </a:r>
            <a:r>
              <a:rPr lang="en-US" dirty="0"/>
              <a:t> </a:t>
            </a:r>
            <a:r>
              <a:rPr lang="en-MX" dirty="0"/>
              <a:t>✅</a:t>
            </a:r>
          </a:p>
          <a:p>
            <a:r>
              <a:rPr lang="en-MX" b="1" dirty="0"/>
              <a:t>60-80%</a:t>
            </a:r>
            <a:r>
              <a:rPr lang="en-MX" dirty="0"/>
              <a:t>: </a:t>
            </a:r>
            <a:r>
              <a:rPr lang="en-US" dirty="0" err="1"/>
              <a:t>Aceptable</a:t>
            </a:r>
            <a:r>
              <a:rPr lang="en-US" dirty="0"/>
              <a:t> ⚠️</a:t>
            </a:r>
          </a:p>
          <a:p>
            <a:r>
              <a:rPr lang="en-US" b="1" dirty="0"/>
              <a:t>&lt;60%</a:t>
            </a:r>
            <a:r>
              <a:rPr lang="en-US" dirty="0"/>
              <a:t>: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MX" dirty="0"/>
              <a:t>❌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515382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5B1AD-191B-66A3-AB7B-347C5465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PASO 6: </a:t>
            </a:r>
            <a:r>
              <a:rPr lang="en-US" b="1" dirty="0" err="1"/>
              <a:t>Tabla</a:t>
            </a:r>
            <a:r>
              <a:rPr lang="en-US" b="1" dirty="0"/>
              <a:t> de </a:t>
            </a:r>
            <a:r>
              <a:rPr lang="en-US" b="1" dirty="0" err="1"/>
              <a:t>Secuencias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53D9A-AD30-E569-60EF-3EC542EC8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err="1"/>
              <a:t>Objetivo</a:t>
            </a:r>
            <a:endParaRPr lang="en-US" b="1" dirty="0"/>
          </a:p>
          <a:p>
            <a:r>
              <a:rPr lang="en-US" dirty="0"/>
              <a:t>Crear </a:t>
            </a:r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abundancia</a:t>
            </a:r>
            <a:r>
              <a:rPr lang="en-US" dirty="0"/>
              <a:t> ASVs × </a:t>
            </a:r>
            <a:r>
              <a:rPr lang="en-US" dirty="0" err="1"/>
              <a:t>Muestras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Estructura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      Muestra1  Muestra2  Muestra3</a:t>
            </a:r>
          </a:p>
          <a:p>
            <a:pPr marL="0" indent="0">
              <a:buNone/>
            </a:pPr>
            <a:r>
              <a:rPr lang="en-US" dirty="0"/>
              <a:t>ASV1        1250      890       1020</a:t>
            </a:r>
          </a:p>
          <a:p>
            <a:pPr marL="0" indent="0">
              <a:buNone/>
            </a:pPr>
            <a:r>
              <a:rPr lang="en-US" dirty="0"/>
              <a:t>ASV2         780      920        650</a:t>
            </a:r>
          </a:p>
          <a:p>
            <a:pPr marL="0" indent="0">
              <a:buNone/>
            </a:pPr>
            <a:r>
              <a:rPr lang="en-US" dirty="0"/>
              <a:t>ASV3         450      320        580</a:t>
            </a:r>
          </a:p>
          <a:p>
            <a:pPr marL="0" indent="0">
              <a:buNone/>
            </a:pPr>
            <a:r>
              <a:rPr lang="en-US" b="1" dirty="0" err="1"/>
              <a:t>Inspección</a:t>
            </a:r>
            <a:r>
              <a:rPr lang="en-US" b="1" dirty="0"/>
              <a:t> de Longitudes</a:t>
            </a:r>
          </a:p>
          <a:p>
            <a:r>
              <a:rPr lang="en-US" dirty="0"/>
              <a:t>table(</a:t>
            </a:r>
            <a:r>
              <a:rPr lang="en-US" dirty="0" err="1"/>
              <a:t>nchar</a:t>
            </a:r>
            <a:r>
              <a:rPr lang="en-US" dirty="0"/>
              <a:t>(</a:t>
            </a:r>
            <a:r>
              <a:rPr lang="en-US" dirty="0" err="1"/>
              <a:t>getSequences</a:t>
            </a:r>
            <a:r>
              <a:rPr lang="en-US" dirty="0"/>
              <a:t>(</a:t>
            </a:r>
            <a:r>
              <a:rPr lang="en-US" dirty="0" err="1"/>
              <a:t>seqtab</a:t>
            </a:r>
            <a:r>
              <a:rPr lang="en-US" dirty="0"/>
              <a:t>)))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Interpretación</a:t>
            </a:r>
            <a:endParaRPr lang="en-US" b="1" dirty="0"/>
          </a:p>
          <a:p>
            <a:r>
              <a:rPr lang="en-US" dirty="0"/>
              <a:t>Pico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longitud</a:t>
            </a:r>
            <a:r>
              <a:rPr lang="en-US" dirty="0"/>
              <a:t> </a:t>
            </a:r>
            <a:r>
              <a:rPr lang="en-US" dirty="0" err="1"/>
              <a:t>esperada</a:t>
            </a:r>
            <a:r>
              <a:rPr lang="en-US" dirty="0"/>
              <a:t> </a:t>
            </a:r>
            <a:r>
              <a:rPr lang="en-MX" dirty="0"/>
              <a:t>✅</a:t>
            </a:r>
          </a:p>
          <a:p>
            <a:r>
              <a:rPr lang="en-US" dirty="0" err="1"/>
              <a:t>Variación</a:t>
            </a:r>
            <a:r>
              <a:rPr lang="en-US" dirty="0"/>
              <a:t> ±5 bp: Normal</a:t>
            </a:r>
          </a:p>
          <a:p>
            <a:r>
              <a:rPr lang="en-US" dirty="0"/>
              <a:t>Outliers: </a:t>
            </a:r>
            <a:r>
              <a:rPr lang="en-US" dirty="0" err="1"/>
              <a:t>Posible</a:t>
            </a:r>
            <a:r>
              <a:rPr lang="en-US" dirty="0"/>
              <a:t> </a:t>
            </a:r>
            <a:r>
              <a:rPr lang="en-US" dirty="0" err="1"/>
              <a:t>contaminación</a:t>
            </a:r>
            <a:endParaRPr lang="en-US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25255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7F3C-0DC0-B9D1-FD2A-025A0C03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/>
          </a:p>
        </p:txBody>
      </p:sp>
      <p:pic>
        <p:nvPicPr>
          <p:cNvPr id="2050" name="Picture 2" descr="USEARCH">
            <a:extLst>
              <a:ext uri="{FF2B5EF4-FFF2-40B4-BE49-F238E27FC236}">
                <a16:creationId xmlns:a16="http://schemas.microsoft.com/office/drawing/2014/main" id="{12F4B536-B941-9603-0C87-2F1E9688A5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994" y="365125"/>
            <a:ext cx="4226885" cy="342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enerating a feature table / feature data - Microbiome Analysis with QIIME2">
            <a:extLst>
              <a:ext uri="{FF2B5EF4-FFF2-40B4-BE49-F238E27FC236}">
                <a16:creationId xmlns:a16="http://schemas.microsoft.com/office/drawing/2014/main" id="{899C52EC-DCAB-B96E-76D0-EEC789BC3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64022"/>
            <a:ext cx="5932967" cy="245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03_denoising_and_clustering">
            <a:extLst>
              <a:ext uri="{FF2B5EF4-FFF2-40B4-BE49-F238E27FC236}">
                <a16:creationId xmlns:a16="http://schemas.microsoft.com/office/drawing/2014/main" id="{FAA286EE-E19D-5B71-8EEB-60FCD5114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233" y="4243794"/>
            <a:ext cx="3657600" cy="222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08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7B13-907D-FD7F-4635-0AC74F78D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PASO 7: </a:t>
            </a:r>
            <a:r>
              <a:rPr lang="en-US" b="1" dirty="0" err="1"/>
              <a:t>Remoción</a:t>
            </a:r>
            <a:r>
              <a:rPr lang="en-US" b="1" dirty="0"/>
              <a:t> de </a:t>
            </a:r>
            <a:r>
              <a:rPr lang="en-US" b="1" dirty="0" err="1"/>
              <a:t>Quimeras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57332-80EF-BDFD-32B5-74BE956F3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7070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B705-6225-C4A9-90B6-9AAB55F7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PASO : Error </a:t>
            </a:r>
            <a:r>
              <a:rPr lang="es-ES_tradnl" dirty="0" err="1"/>
              <a:t>rates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46C7-8586-6FAF-5C80-B1F858C0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 err="1"/>
              <a:t>Interpretación</a:t>
            </a:r>
            <a:r>
              <a:rPr lang="en-US" dirty="0"/>
              <a:t> general (</a:t>
            </a:r>
            <a:r>
              <a:rPr lang="en-US" dirty="0" err="1"/>
              <a:t>plotErrors</a:t>
            </a:r>
            <a:r>
              <a:rPr lang="en-US" dirty="0"/>
              <a:t> de DADA2):</a:t>
            </a:r>
          </a:p>
          <a:p>
            <a:r>
              <a:rPr lang="en-US" dirty="0"/>
              <a:t>Cada panel </a:t>
            </a:r>
            <a:r>
              <a:rPr lang="en-US" dirty="0" err="1"/>
              <a:t>muestra</a:t>
            </a:r>
            <a:r>
              <a:rPr lang="en-US" dirty="0"/>
              <a:t> un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evento</a:t>
            </a:r>
            <a:r>
              <a:rPr lang="en-US" dirty="0"/>
              <a:t>: fila = base </a:t>
            </a:r>
            <a:r>
              <a:rPr lang="en-US" dirty="0" err="1"/>
              <a:t>verdadera</a:t>
            </a:r>
            <a:r>
              <a:rPr lang="en-US" dirty="0"/>
              <a:t>, </a:t>
            </a:r>
            <a:r>
              <a:rPr lang="en-US" dirty="0" err="1"/>
              <a:t>columna</a:t>
            </a:r>
            <a:r>
              <a:rPr lang="en-US" dirty="0"/>
              <a:t> = base </a:t>
            </a:r>
            <a:r>
              <a:rPr lang="en-US" dirty="0" err="1"/>
              <a:t>llamada</a:t>
            </a:r>
            <a:r>
              <a:rPr lang="en-US" dirty="0"/>
              <a:t>. </a:t>
            </a:r>
            <a:r>
              <a:rPr lang="en-US" dirty="0" err="1"/>
              <a:t>Ej</a:t>
            </a:r>
            <a:r>
              <a:rPr lang="en-US" dirty="0"/>
              <a:t>: A2C = </a:t>
            </a:r>
            <a:r>
              <a:rPr lang="en-US" dirty="0" err="1"/>
              <a:t>verdaderamente</a:t>
            </a:r>
            <a:r>
              <a:rPr lang="en-US" dirty="0"/>
              <a:t> A, </a:t>
            </a:r>
            <a:r>
              <a:rPr lang="en-US" dirty="0" err="1"/>
              <a:t>llamada</a:t>
            </a:r>
            <a:r>
              <a:rPr lang="en-US" dirty="0"/>
              <a:t> C (error de </a:t>
            </a:r>
            <a:r>
              <a:rPr lang="en-US" dirty="0" err="1"/>
              <a:t>sustitución</a:t>
            </a:r>
            <a:r>
              <a:rPr lang="en-US" dirty="0"/>
              <a:t>). A2A, C2C, </a:t>
            </a:r>
            <a:r>
              <a:rPr lang="en-US" dirty="0" err="1"/>
              <a:t>etc</a:t>
            </a:r>
            <a:r>
              <a:rPr lang="en-US" dirty="0"/>
              <a:t> (</a:t>
            </a:r>
            <a:r>
              <a:rPr lang="en-US" dirty="0" err="1"/>
              <a:t>diagonales</a:t>
            </a:r>
            <a:r>
              <a:rPr lang="en-US" dirty="0"/>
              <a:t>) son </a:t>
            </a:r>
            <a:r>
              <a:rPr lang="en-US" dirty="0" err="1"/>
              <a:t>coincidencias</a:t>
            </a:r>
            <a:r>
              <a:rPr lang="en-US" dirty="0"/>
              <a:t> (no error).</a:t>
            </a:r>
          </a:p>
          <a:p>
            <a:r>
              <a:rPr lang="en-US" dirty="0"/>
              <a:t>Eje X: </a:t>
            </a:r>
            <a:r>
              <a:rPr lang="en-US" dirty="0" err="1"/>
              <a:t>puntaje</a:t>
            </a:r>
            <a:r>
              <a:rPr lang="en-US" dirty="0"/>
              <a:t> de </a:t>
            </a:r>
            <a:r>
              <a:rPr lang="en-US" dirty="0" err="1"/>
              <a:t>calidad</a:t>
            </a:r>
            <a:r>
              <a:rPr lang="en-US" dirty="0"/>
              <a:t> </a:t>
            </a:r>
            <a:r>
              <a:rPr lang="en-US" dirty="0" err="1"/>
              <a:t>consenso</a:t>
            </a:r>
            <a:r>
              <a:rPr lang="en-US" dirty="0"/>
              <a:t> Q.</a:t>
            </a:r>
          </a:p>
          <a:p>
            <a:r>
              <a:rPr lang="en-US" dirty="0"/>
              <a:t>Eje Y (log10): </a:t>
            </a:r>
            <a:r>
              <a:rPr lang="en-US" dirty="0" err="1"/>
              <a:t>frecuencia</a:t>
            </a:r>
            <a:r>
              <a:rPr lang="en-US" dirty="0"/>
              <a:t> de ese </a:t>
            </a:r>
            <a:r>
              <a:rPr lang="en-US" dirty="0" err="1"/>
              <a:t>evento</a:t>
            </a:r>
            <a:r>
              <a:rPr lang="en-US" dirty="0"/>
              <a:t>.</a:t>
            </a:r>
          </a:p>
          <a:p>
            <a:r>
              <a:rPr lang="en-US" dirty="0"/>
              <a:t>Puntos </a:t>
            </a:r>
            <a:r>
              <a:rPr lang="en-US" dirty="0" err="1"/>
              <a:t>grises</a:t>
            </a:r>
            <a:r>
              <a:rPr lang="en-US" dirty="0"/>
              <a:t>: </a:t>
            </a:r>
            <a:r>
              <a:rPr lang="en-US" dirty="0" err="1"/>
              <a:t>frecuencias</a:t>
            </a:r>
            <a:r>
              <a:rPr lang="en-US" dirty="0"/>
              <a:t> </a:t>
            </a:r>
            <a:r>
              <a:rPr lang="en-US" dirty="0" err="1"/>
              <a:t>observadas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tus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r>
              <a:rPr lang="en-US" dirty="0"/>
              <a:t>Línea </a:t>
            </a:r>
            <a:r>
              <a:rPr lang="en-US" dirty="0" err="1"/>
              <a:t>negra</a:t>
            </a:r>
            <a:r>
              <a:rPr lang="en-US" dirty="0"/>
              <a:t>: curva del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aprendido</a:t>
            </a:r>
            <a:r>
              <a:rPr lang="en-US" dirty="0"/>
              <a:t> (lo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usará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).</a:t>
            </a:r>
          </a:p>
          <a:p>
            <a:r>
              <a:rPr lang="en-US" dirty="0"/>
              <a:t>Línea </a:t>
            </a:r>
            <a:r>
              <a:rPr lang="en-US" dirty="0" err="1"/>
              <a:t>roja</a:t>
            </a:r>
            <a:r>
              <a:rPr lang="en-US" dirty="0"/>
              <a:t>: </a:t>
            </a:r>
            <a:r>
              <a:rPr lang="en-US" dirty="0" err="1"/>
              <a:t>tasa</a:t>
            </a:r>
            <a:r>
              <a:rPr lang="en-US" dirty="0"/>
              <a:t> </a:t>
            </a:r>
            <a:r>
              <a:rPr lang="en-US" dirty="0" err="1"/>
              <a:t>teórica</a:t>
            </a:r>
            <a:r>
              <a:rPr lang="en-US" dirty="0"/>
              <a:t> </a:t>
            </a:r>
            <a:r>
              <a:rPr lang="en-US" dirty="0" err="1"/>
              <a:t>basada</a:t>
            </a:r>
            <a:r>
              <a:rPr lang="en-US" dirty="0"/>
              <a:t> solo </a:t>
            </a:r>
            <a:r>
              <a:rPr lang="en-US" dirty="0" err="1"/>
              <a:t>en</a:t>
            </a:r>
            <a:r>
              <a:rPr lang="en-US" dirty="0"/>
              <a:t> Q (10^(-Q/10)); </a:t>
            </a:r>
            <a:r>
              <a:rPr lang="en-US" dirty="0" err="1"/>
              <a:t>sirve</a:t>
            </a:r>
            <a:r>
              <a:rPr lang="en-US" dirty="0"/>
              <a:t> de </a:t>
            </a:r>
            <a:r>
              <a:rPr lang="en-US" dirty="0" err="1"/>
              <a:t>referencia</a:t>
            </a:r>
            <a:r>
              <a:rPr lang="en-US" dirty="0"/>
              <a:t>.</a:t>
            </a:r>
          </a:p>
          <a:p>
            <a:r>
              <a:rPr lang="en-US" dirty="0" err="1"/>
              <a:t>Qué</a:t>
            </a:r>
            <a:r>
              <a:rPr lang="en-US" dirty="0"/>
              <a:t> indican </a:t>
            </a:r>
            <a:r>
              <a:rPr lang="en-US" dirty="0" err="1"/>
              <a:t>tus</a:t>
            </a:r>
            <a:r>
              <a:rPr lang="en-US" dirty="0"/>
              <a:t> </a:t>
            </a:r>
            <a:r>
              <a:rPr lang="en-US" dirty="0" err="1"/>
              <a:t>gráficos</a:t>
            </a:r>
            <a:r>
              <a:rPr lang="en-US" dirty="0"/>
              <a:t>:</a:t>
            </a:r>
          </a:p>
          <a:p>
            <a:r>
              <a:rPr lang="en-US" dirty="0" err="1"/>
              <a:t>Coincidencias</a:t>
            </a:r>
            <a:r>
              <a:rPr lang="en-US" dirty="0"/>
              <a:t> (A2A, C2C, G2G, T2T): </a:t>
            </a:r>
            <a:r>
              <a:rPr lang="en-US" dirty="0" err="1"/>
              <a:t>línea</a:t>
            </a:r>
            <a:r>
              <a:rPr lang="en-US" dirty="0"/>
              <a:t> </a:t>
            </a:r>
            <a:r>
              <a:rPr lang="en-US" dirty="0" err="1"/>
              <a:t>negra</a:t>
            </a:r>
            <a:r>
              <a:rPr lang="en-US" dirty="0"/>
              <a:t> </a:t>
            </a:r>
            <a:r>
              <a:rPr lang="en-US" dirty="0" err="1"/>
              <a:t>pegada</a:t>
            </a:r>
            <a:r>
              <a:rPr lang="en-US" dirty="0"/>
              <a:t> </a:t>
            </a:r>
            <a:r>
              <a:rPr lang="en-US" dirty="0" err="1"/>
              <a:t>arriba</a:t>
            </a:r>
            <a:r>
              <a:rPr lang="en-US" dirty="0"/>
              <a:t> (</a:t>
            </a:r>
            <a:r>
              <a:rPr lang="en-US" dirty="0" err="1"/>
              <a:t>probabilidad</a:t>
            </a:r>
            <a:r>
              <a:rPr lang="en-US" dirty="0"/>
              <a:t> ~1 de </a:t>
            </a:r>
            <a:r>
              <a:rPr lang="en-US" dirty="0" err="1"/>
              <a:t>llamada</a:t>
            </a:r>
            <a:r>
              <a:rPr lang="en-US" dirty="0"/>
              <a:t> </a:t>
            </a:r>
            <a:r>
              <a:rPr lang="en-US" dirty="0" err="1"/>
              <a:t>correcta</a:t>
            </a:r>
            <a:r>
              <a:rPr lang="en-US" dirty="0"/>
              <a:t>) y puntos </a:t>
            </a:r>
            <a:r>
              <a:rPr lang="en-US" dirty="0" err="1"/>
              <a:t>superpuestos</a:t>
            </a:r>
            <a:r>
              <a:rPr lang="en-US" dirty="0"/>
              <a:t>; normal.</a:t>
            </a:r>
          </a:p>
          <a:p>
            <a:r>
              <a:rPr lang="en-US" dirty="0" err="1"/>
              <a:t>Sustituciones</a:t>
            </a:r>
            <a:r>
              <a:rPr lang="en-US" dirty="0"/>
              <a:t> (off-diagonal): puntos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debajo</a:t>
            </a:r>
            <a:r>
              <a:rPr lang="en-US" dirty="0"/>
              <a:t> o </a:t>
            </a:r>
            <a:r>
              <a:rPr lang="en-US" dirty="0" err="1"/>
              <a:t>cerca</a:t>
            </a:r>
            <a:r>
              <a:rPr lang="en-US" dirty="0"/>
              <a:t> de la </a:t>
            </a:r>
            <a:r>
              <a:rPr lang="en-US" dirty="0" err="1"/>
              <a:t>línea</a:t>
            </a:r>
            <a:r>
              <a:rPr lang="en-US" dirty="0"/>
              <a:t> </a:t>
            </a:r>
            <a:r>
              <a:rPr lang="en-US" dirty="0" err="1"/>
              <a:t>roja</a:t>
            </a:r>
            <a:r>
              <a:rPr lang="en-US" dirty="0"/>
              <a:t>;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negro </a:t>
            </a:r>
            <a:r>
              <a:rPr lang="en-US" dirty="0" err="1"/>
              <a:t>sigue</a:t>
            </a:r>
            <a:r>
              <a:rPr lang="en-US" dirty="0"/>
              <a:t> bien la </a:t>
            </a:r>
            <a:r>
              <a:rPr lang="en-US" dirty="0" err="1"/>
              <a:t>tendencia</a:t>
            </a:r>
            <a:r>
              <a:rPr lang="en-US" dirty="0"/>
              <a:t> </a:t>
            </a:r>
            <a:r>
              <a:rPr lang="en-US" dirty="0" err="1"/>
              <a:t>decreciente</a:t>
            </a:r>
            <a:r>
              <a:rPr lang="en-US" dirty="0"/>
              <a:t> con mayor Q. Esto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estima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iguales</a:t>
            </a:r>
            <a:r>
              <a:rPr lang="en-US" dirty="0"/>
              <a:t> o </a:t>
            </a:r>
            <a:r>
              <a:rPr lang="en-US" dirty="0" err="1"/>
              <a:t>menores</a:t>
            </a:r>
            <a:r>
              <a:rPr lang="en-US" dirty="0"/>
              <a:t> a lo </a:t>
            </a:r>
            <a:r>
              <a:rPr lang="en-US" dirty="0" err="1"/>
              <a:t>esperado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las </a:t>
            </a:r>
            <a:r>
              <a:rPr lang="en-US" dirty="0" err="1"/>
              <a:t>calidades</a:t>
            </a:r>
            <a:r>
              <a:rPr lang="en-US" dirty="0"/>
              <a:t>, lo </a:t>
            </a:r>
            <a:r>
              <a:rPr lang="en-US" dirty="0" err="1"/>
              <a:t>deseable</a:t>
            </a:r>
            <a:r>
              <a:rPr lang="en-US" dirty="0"/>
              <a:t>.</a:t>
            </a:r>
          </a:p>
          <a:p>
            <a:r>
              <a:rPr lang="en-US" dirty="0"/>
              <a:t>Curvas con “</a:t>
            </a:r>
            <a:r>
              <a:rPr lang="en-US" dirty="0" err="1"/>
              <a:t>ondulaciones</a:t>
            </a:r>
            <a:r>
              <a:rPr lang="en-US" dirty="0"/>
              <a:t>” (</a:t>
            </a:r>
            <a:r>
              <a:rPr lang="en-US" dirty="0" err="1"/>
              <a:t>p.ej</a:t>
            </a:r>
            <a:r>
              <a:rPr lang="en-US" dirty="0"/>
              <a:t>. G2G, T2T </a:t>
            </a:r>
            <a:r>
              <a:rPr lang="en-US" dirty="0" err="1"/>
              <a:t>muestran</a:t>
            </a:r>
            <a:r>
              <a:rPr lang="en-US" dirty="0"/>
              <a:t> </a:t>
            </a:r>
            <a:r>
              <a:rPr lang="en-US" dirty="0" err="1"/>
              <a:t>ligeras</a:t>
            </a:r>
            <a:r>
              <a:rPr lang="en-US" dirty="0"/>
              <a:t> </a:t>
            </a:r>
            <a:r>
              <a:rPr lang="en-US" dirty="0" err="1"/>
              <a:t>irregularidades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negro y </a:t>
            </a:r>
            <a:r>
              <a:rPr lang="en-US" dirty="0" err="1"/>
              <a:t>algunas</a:t>
            </a:r>
            <a:r>
              <a:rPr lang="en-US" dirty="0"/>
              <a:t> </a:t>
            </a:r>
            <a:r>
              <a:rPr lang="en-US" dirty="0" err="1"/>
              <a:t>sustituciones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pequeñas</a:t>
            </a:r>
            <a:r>
              <a:rPr lang="en-US" dirty="0"/>
              <a:t> </a:t>
            </a:r>
            <a:r>
              <a:rPr lang="en-US" dirty="0" err="1"/>
              <a:t>inflexiones</a:t>
            </a:r>
            <a:r>
              <a:rPr lang="en-US" dirty="0"/>
              <a:t>): </a:t>
            </a:r>
            <a:r>
              <a:rPr lang="en-US" dirty="0" err="1"/>
              <a:t>típico</a:t>
            </a:r>
            <a:r>
              <a:rPr lang="en-US" dirty="0"/>
              <a:t> de </a:t>
            </a:r>
            <a:r>
              <a:rPr lang="en-US" dirty="0" err="1"/>
              <a:t>falta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ciertos</a:t>
            </a:r>
            <a:r>
              <a:rPr lang="en-US" dirty="0"/>
              <a:t> </a:t>
            </a:r>
            <a:r>
              <a:rPr lang="en-US" dirty="0" err="1"/>
              <a:t>rangos</a:t>
            </a:r>
            <a:r>
              <a:rPr lang="en-US" dirty="0"/>
              <a:t> de Q (</a:t>
            </a:r>
            <a:r>
              <a:rPr lang="en-US" dirty="0" err="1"/>
              <a:t>pocos</a:t>
            </a:r>
            <a:r>
              <a:rPr lang="en-US" dirty="0"/>
              <a:t> reads con </a:t>
            </a:r>
            <a:r>
              <a:rPr lang="en-US" dirty="0" err="1"/>
              <a:t>esos</a:t>
            </a:r>
            <a:r>
              <a:rPr lang="en-US" dirty="0"/>
              <a:t> Q altos), causa de no </a:t>
            </a:r>
            <a:r>
              <a:rPr lang="en-US" dirty="0" err="1"/>
              <a:t>alcanzar</a:t>
            </a:r>
            <a:r>
              <a:rPr lang="en-US" dirty="0"/>
              <a:t> </a:t>
            </a:r>
            <a:r>
              <a:rPr lang="en-US" dirty="0" err="1"/>
              <a:t>convergencia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10 </a:t>
            </a:r>
            <a:r>
              <a:rPr lang="en-US" dirty="0" err="1"/>
              <a:t>iteraciones</a:t>
            </a:r>
            <a:r>
              <a:rPr lang="en-US" dirty="0"/>
              <a:t>.</a:t>
            </a:r>
          </a:p>
          <a:p>
            <a:r>
              <a:rPr lang="en-US" dirty="0"/>
              <a:t>No hay </a:t>
            </a:r>
            <a:r>
              <a:rPr lang="en-US" dirty="0" err="1"/>
              <a:t>paneles</a:t>
            </a:r>
            <a:r>
              <a:rPr lang="en-US" dirty="0"/>
              <a:t> </a:t>
            </a:r>
            <a:r>
              <a:rPr lang="en-US" dirty="0" err="1"/>
              <a:t>donde</a:t>
            </a:r>
            <a:r>
              <a:rPr lang="en-US" dirty="0"/>
              <a:t> la </a:t>
            </a:r>
            <a:r>
              <a:rPr lang="en-US" dirty="0" err="1"/>
              <a:t>línea</a:t>
            </a:r>
            <a:r>
              <a:rPr lang="en-US" dirty="0"/>
              <a:t> </a:t>
            </a:r>
            <a:r>
              <a:rPr lang="en-US" dirty="0" err="1"/>
              <a:t>negra</a:t>
            </a:r>
            <a:r>
              <a:rPr lang="en-US" dirty="0"/>
              <a:t> </a:t>
            </a:r>
            <a:r>
              <a:rPr lang="en-US" dirty="0" err="1"/>
              <a:t>esté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encima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puntos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rango</a:t>
            </a:r>
            <a:r>
              <a:rPr lang="en-US" dirty="0"/>
              <a:t> (</a:t>
            </a:r>
            <a:r>
              <a:rPr lang="en-US" dirty="0" err="1"/>
              <a:t>eso</a:t>
            </a:r>
            <a:r>
              <a:rPr lang="en-US" dirty="0"/>
              <a:t> </a:t>
            </a:r>
            <a:r>
              <a:rPr lang="en-US" dirty="0" err="1"/>
              <a:t>sería</a:t>
            </a:r>
            <a:r>
              <a:rPr lang="en-US" dirty="0"/>
              <a:t> </a:t>
            </a:r>
            <a:r>
              <a:rPr lang="en-US" dirty="0" err="1"/>
              <a:t>sobreestimación</a:t>
            </a:r>
            <a:r>
              <a:rPr lang="en-US" dirty="0"/>
              <a:t> </a:t>
            </a:r>
            <a:r>
              <a:rPr lang="en-US" dirty="0" err="1"/>
              <a:t>sistemática</a:t>
            </a:r>
            <a:r>
              <a:rPr lang="en-US" dirty="0"/>
              <a:t> de </a:t>
            </a:r>
            <a:r>
              <a:rPr lang="en-US" dirty="0" err="1"/>
              <a:t>errores</a:t>
            </a:r>
            <a:r>
              <a:rPr lang="en-US" dirty="0"/>
              <a:t>). </a:t>
            </a:r>
            <a:r>
              <a:rPr lang="en-US" dirty="0" err="1"/>
              <a:t>Tampoco</a:t>
            </a:r>
            <a:r>
              <a:rPr lang="en-US" dirty="0"/>
              <a:t> se </a:t>
            </a:r>
            <a:r>
              <a:rPr lang="en-US" dirty="0" err="1"/>
              <a:t>ven</a:t>
            </a:r>
            <a:r>
              <a:rPr lang="en-US" dirty="0"/>
              <a:t> puntos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dispersos</a:t>
            </a:r>
            <a:r>
              <a:rPr lang="en-US" dirty="0"/>
              <a:t> sin </a:t>
            </a:r>
            <a:r>
              <a:rPr lang="en-US" dirty="0" err="1"/>
              <a:t>tendencia</a:t>
            </a:r>
            <a:r>
              <a:rPr lang="en-US" dirty="0"/>
              <a:t> (lo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sería</a:t>
            </a:r>
            <a:r>
              <a:rPr lang="en-US" dirty="0"/>
              <a:t> </a:t>
            </a:r>
            <a:r>
              <a:rPr lang="en-US" dirty="0" err="1"/>
              <a:t>ruido</a:t>
            </a:r>
            <a:r>
              <a:rPr lang="en-US" dirty="0"/>
              <a:t> extremo).</a:t>
            </a:r>
          </a:p>
          <a:p>
            <a:r>
              <a:rPr lang="en-US" dirty="0" err="1"/>
              <a:t>Conclusión</a:t>
            </a:r>
            <a:r>
              <a:rPr lang="en-US" dirty="0"/>
              <a:t>:</a:t>
            </a:r>
          </a:p>
          <a:p>
            <a:r>
              <a:rPr lang="en-US" dirty="0"/>
              <a:t>Los </a:t>
            </a:r>
            <a:r>
              <a:rPr lang="en-US" dirty="0" err="1"/>
              <a:t>modelos</a:t>
            </a:r>
            <a:r>
              <a:rPr lang="en-US" dirty="0"/>
              <a:t> de error son </a:t>
            </a:r>
            <a:r>
              <a:rPr lang="en-US" dirty="0" err="1"/>
              <a:t>aceptables</a:t>
            </a:r>
            <a:r>
              <a:rPr lang="en-US" dirty="0"/>
              <a:t>; </a:t>
            </a:r>
            <a:r>
              <a:rPr lang="en-US" dirty="0" err="1"/>
              <a:t>puedes</a:t>
            </a:r>
            <a:r>
              <a:rPr lang="en-US" dirty="0"/>
              <a:t> </a:t>
            </a:r>
            <a:r>
              <a:rPr lang="en-US" dirty="0" err="1"/>
              <a:t>continuar</a:t>
            </a:r>
            <a:r>
              <a:rPr lang="en-US" dirty="0"/>
              <a:t> </a:t>
            </a:r>
            <a:r>
              <a:rPr lang="en-US" dirty="0" err="1"/>
              <a:t>aunque</a:t>
            </a:r>
            <a:r>
              <a:rPr lang="en-US" dirty="0"/>
              <a:t> </a:t>
            </a:r>
            <a:r>
              <a:rPr lang="en-US" dirty="0" err="1"/>
              <a:t>apareciera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mensaje</a:t>
            </a:r>
            <a:r>
              <a:rPr lang="en-US" dirty="0"/>
              <a:t> de “terminated before convergence”.</a:t>
            </a:r>
          </a:p>
          <a:p>
            <a:r>
              <a:rPr lang="en-US" dirty="0"/>
              <a:t>La </a:t>
            </a:r>
            <a:r>
              <a:rPr lang="en-US" dirty="0" err="1"/>
              <a:t>falta</a:t>
            </a:r>
            <a:r>
              <a:rPr lang="en-US" dirty="0"/>
              <a:t> de </a:t>
            </a:r>
            <a:r>
              <a:rPr lang="en-US" dirty="0" err="1"/>
              <a:t>convergencia</a:t>
            </a:r>
            <a:r>
              <a:rPr lang="en-US" dirty="0"/>
              <a:t> se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probablemente</a:t>
            </a:r>
            <a:r>
              <a:rPr lang="en-US" dirty="0"/>
              <a:t> a </a:t>
            </a:r>
            <a:r>
              <a:rPr lang="en-US" dirty="0" err="1"/>
              <a:t>número</a:t>
            </a:r>
            <a:r>
              <a:rPr lang="en-US" dirty="0"/>
              <a:t> </a:t>
            </a:r>
            <a:r>
              <a:rPr lang="en-US" dirty="0" err="1"/>
              <a:t>limitado</a:t>
            </a:r>
            <a:r>
              <a:rPr lang="en-US" dirty="0"/>
              <a:t> de bases </a:t>
            </a:r>
            <a:r>
              <a:rPr lang="en-US" dirty="0" err="1"/>
              <a:t>usadas</a:t>
            </a:r>
            <a:r>
              <a:rPr lang="en-US" dirty="0"/>
              <a:t> (</a:t>
            </a:r>
            <a:r>
              <a:rPr lang="en-US" dirty="0" err="1"/>
              <a:t>nbases</a:t>
            </a:r>
            <a:r>
              <a:rPr lang="en-US" dirty="0"/>
              <a:t>) o a </a:t>
            </a:r>
            <a:r>
              <a:rPr lang="en-US" dirty="0" err="1"/>
              <a:t>truncamientos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reducen</a:t>
            </a:r>
            <a:r>
              <a:rPr lang="en-US" dirty="0"/>
              <a:t> </a:t>
            </a:r>
            <a:r>
              <a:rPr lang="en-US" dirty="0" err="1"/>
              <a:t>diversidad</a:t>
            </a:r>
            <a:r>
              <a:rPr lang="en-US" dirty="0"/>
              <a:t> de Q.</a:t>
            </a:r>
          </a:p>
          <a:p>
            <a:r>
              <a:rPr lang="en-US" dirty="0"/>
              <a:t>Si </a:t>
            </a:r>
            <a:r>
              <a:rPr lang="en-US" dirty="0" err="1"/>
              <a:t>quisieras</a:t>
            </a:r>
            <a:r>
              <a:rPr lang="en-US" dirty="0"/>
              <a:t> </a:t>
            </a:r>
            <a:r>
              <a:rPr lang="en-US" dirty="0" err="1"/>
              <a:t>mejorar</a:t>
            </a:r>
            <a:r>
              <a:rPr lang="en-US" dirty="0"/>
              <a:t> </a:t>
            </a:r>
            <a:r>
              <a:rPr lang="en-US" dirty="0" err="1"/>
              <a:t>suavidad</a:t>
            </a:r>
            <a:r>
              <a:rPr lang="en-US" dirty="0"/>
              <a:t>:</a:t>
            </a:r>
          </a:p>
          <a:p>
            <a:r>
              <a:rPr lang="en-US" dirty="0" err="1"/>
              <a:t>Aumentar</a:t>
            </a:r>
            <a:r>
              <a:rPr lang="en-US" dirty="0"/>
              <a:t> </a:t>
            </a:r>
            <a:r>
              <a:rPr lang="en-US" dirty="0" err="1"/>
              <a:t>nbases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learnErrors</a:t>
            </a:r>
            <a:r>
              <a:rPr lang="en-US" dirty="0"/>
              <a:t> (</a:t>
            </a:r>
            <a:r>
              <a:rPr lang="en-US" dirty="0" err="1"/>
              <a:t>ej</a:t>
            </a:r>
            <a:r>
              <a:rPr lang="en-US" dirty="0"/>
              <a:t>. </a:t>
            </a:r>
            <a:r>
              <a:rPr lang="en-US" dirty="0" err="1"/>
              <a:t>nbases</a:t>
            </a:r>
            <a:r>
              <a:rPr lang="en-US" dirty="0"/>
              <a:t> = 1e8).</a:t>
            </a:r>
          </a:p>
          <a:p>
            <a:r>
              <a:rPr lang="en-US" dirty="0"/>
              <a:t>MAX_CONSIST = 20 para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iteraciones</a:t>
            </a:r>
            <a:r>
              <a:rPr lang="en-US" dirty="0"/>
              <a:t>.</a:t>
            </a:r>
          </a:p>
          <a:p>
            <a:r>
              <a:rPr lang="en-US" dirty="0"/>
              <a:t>randomize = TRUE.</a:t>
            </a:r>
          </a:p>
          <a:p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truncLen</a:t>
            </a:r>
            <a:r>
              <a:rPr lang="en-US" dirty="0"/>
              <a:t>: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cortar</a:t>
            </a:r>
            <a:r>
              <a:rPr lang="en-US" dirty="0"/>
              <a:t> </a:t>
            </a:r>
            <a:r>
              <a:rPr lang="en-US" dirty="0" err="1"/>
              <a:t>demasiado</a:t>
            </a:r>
            <a:r>
              <a:rPr lang="en-US" dirty="0"/>
              <a:t> pronto.</a:t>
            </a:r>
          </a:p>
          <a:p>
            <a:r>
              <a:rPr lang="en-US" dirty="0"/>
              <a:t>Si </a:t>
            </a:r>
            <a:r>
              <a:rPr lang="en-US" dirty="0" err="1"/>
              <a:t>tienes</a:t>
            </a:r>
            <a:r>
              <a:rPr lang="en-US" dirty="0"/>
              <a:t> </a:t>
            </a:r>
            <a:r>
              <a:rPr lang="en-US" dirty="0" err="1"/>
              <a:t>múltiples</a:t>
            </a:r>
            <a:r>
              <a:rPr lang="en-US" dirty="0"/>
              <a:t> runs, usar pool = "pseudo" o </a:t>
            </a:r>
            <a:r>
              <a:rPr lang="en-US" dirty="0" err="1"/>
              <a:t>unir</a:t>
            </a:r>
            <a:r>
              <a:rPr lang="en-US" dirty="0"/>
              <a:t> </a:t>
            </a:r>
            <a:r>
              <a:rPr lang="en-US" dirty="0" err="1"/>
              <a:t>filtrados</a:t>
            </a:r>
            <a:r>
              <a:rPr lang="en-US" dirty="0"/>
              <a:t> para </a:t>
            </a:r>
            <a:r>
              <a:rPr lang="en-US" dirty="0" err="1"/>
              <a:t>aprender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con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r>
              <a:rPr lang="en-US" dirty="0" err="1"/>
              <a:t>Indicador</a:t>
            </a:r>
            <a:r>
              <a:rPr lang="en-US" dirty="0"/>
              <a:t> de </a:t>
            </a:r>
            <a:r>
              <a:rPr lang="en-US" dirty="0" err="1"/>
              <a:t>alarma</a:t>
            </a:r>
            <a:r>
              <a:rPr lang="en-US" dirty="0"/>
              <a:t> (no </a:t>
            </a:r>
            <a:r>
              <a:rPr lang="en-US" dirty="0" err="1"/>
              <a:t>presente</a:t>
            </a:r>
            <a:r>
              <a:rPr lang="en-US" dirty="0"/>
              <a:t> </a:t>
            </a:r>
            <a:r>
              <a:rPr lang="en-US" dirty="0" err="1"/>
              <a:t>aquí</a:t>
            </a:r>
            <a:r>
              <a:rPr lang="en-US" dirty="0"/>
              <a:t>) </a:t>
            </a:r>
            <a:r>
              <a:rPr lang="en-US" dirty="0" err="1"/>
              <a:t>sería</a:t>
            </a:r>
            <a:r>
              <a:rPr lang="en-US" dirty="0"/>
              <a:t>: </a:t>
            </a:r>
            <a:r>
              <a:rPr lang="en-US" dirty="0" err="1"/>
              <a:t>muchas</a:t>
            </a:r>
            <a:r>
              <a:rPr lang="en-US" dirty="0"/>
              <a:t> </a:t>
            </a:r>
            <a:r>
              <a:rPr lang="en-US" dirty="0" err="1"/>
              <a:t>sustituciones</a:t>
            </a:r>
            <a:r>
              <a:rPr lang="en-US" dirty="0"/>
              <a:t> con puntos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encima</a:t>
            </a:r>
            <a:r>
              <a:rPr lang="en-US" dirty="0"/>
              <a:t> de la </a:t>
            </a:r>
            <a:r>
              <a:rPr lang="en-US" dirty="0" err="1"/>
              <a:t>línea</a:t>
            </a:r>
            <a:r>
              <a:rPr lang="en-US" dirty="0"/>
              <a:t> </a:t>
            </a:r>
            <a:r>
              <a:rPr lang="en-US" dirty="0" err="1"/>
              <a:t>roja</a:t>
            </a:r>
            <a:r>
              <a:rPr lang="en-US" dirty="0"/>
              <a:t> y </a:t>
            </a:r>
            <a:r>
              <a:rPr lang="en-US" dirty="0" err="1"/>
              <a:t>línea</a:t>
            </a:r>
            <a:r>
              <a:rPr lang="en-US" dirty="0"/>
              <a:t> </a:t>
            </a:r>
            <a:r>
              <a:rPr lang="en-US" dirty="0" err="1"/>
              <a:t>negra</a:t>
            </a:r>
            <a:r>
              <a:rPr lang="en-US" dirty="0"/>
              <a:t> también </a:t>
            </a:r>
            <a:r>
              <a:rPr lang="en-US" dirty="0" err="1"/>
              <a:t>alta</a:t>
            </a:r>
            <a:r>
              <a:rPr lang="en-US" dirty="0"/>
              <a:t>; </a:t>
            </a:r>
            <a:r>
              <a:rPr lang="en-US" dirty="0" err="1"/>
              <a:t>significaría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las </a:t>
            </a:r>
            <a:r>
              <a:rPr lang="en-US" dirty="0" err="1"/>
              <a:t>calidades</a:t>
            </a:r>
            <a:r>
              <a:rPr lang="en-US" dirty="0"/>
              <a:t> </a:t>
            </a:r>
            <a:r>
              <a:rPr lang="en-US" dirty="0" err="1"/>
              <a:t>subestiman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error real.</a:t>
            </a:r>
          </a:p>
          <a:p>
            <a:r>
              <a:rPr lang="en-US" dirty="0" err="1"/>
              <a:t>Puedes</a:t>
            </a:r>
            <a:r>
              <a:rPr lang="en-US" dirty="0"/>
              <a:t> </a:t>
            </a:r>
            <a:r>
              <a:rPr lang="en-US" dirty="0" err="1"/>
              <a:t>seguir</a:t>
            </a:r>
            <a:r>
              <a:rPr lang="en-US" dirty="0"/>
              <a:t> con </a:t>
            </a:r>
            <a:r>
              <a:rPr lang="en-US" dirty="0" err="1"/>
              <a:t>inferencia</a:t>
            </a:r>
            <a:r>
              <a:rPr lang="en-US" dirty="0"/>
              <a:t> de ASVs;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impacto</a:t>
            </a:r>
            <a:r>
              <a:rPr lang="en-US" dirty="0"/>
              <a:t> de </a:t>
            </a:r>
            <a:r>
              <a:rPr lang="en-US" dirty="0" err="1"/>
              <a:t>pequeñas</a:t>
            </a:r>
            <a:r>
              <a:rPr lang="en-US" dirty="0"/>
              <a:t> </a:t>
            </a:r>
            <a:r>
              <a:rPr lang="en-US" dirty="0" err="1"/>
              <a:t>ondulaciones</a:t>
            </a:r>
            <a:r>
              <a:rPr lang="en-US" dirty="0"/>
              <a:t> </a:t>
            </a:r>
            <a:r>
              <a:rPr lang="en-US" dirty="0" err="1"/>
              <a:t>suele</a:t>
            </a:r>
            <a:r>
              <a:rPr lang="en-US" dirty="0"/>
              <a:t> ser </a:t>
            </a:r>
            <a:r>
              <a:rPr lang="en-US" dirty="0" err="1"/>
              <a:t>mínimo</a:t>
            </a:r>
            <a:r>
              <a:rPr lang="en-US"/>
              <a:t>.</a:t>
            </a:r>
          </a:p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71229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F37B-978E-2F96-2C3A-E2DB10FD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Virtual PCR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0AF14-ACC2-9EAA-4703-EE336E975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451178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1477</Words>
  <Application>Microsoft Macintosh PowerPoint</Application>
  <PresentationFormat>Widescreen</PresentationFormat>
  <Paragraphs>234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Narrow</vt:lpstr>
      <vt:lpstr>Arial</vt:lpstr>
      <vt:lpstr>Consolas</vt:lpstr>
      <vt:lpstr>Franklin Gothic Book</vt:lpstr>
      <vt:lpstr>Franklin Gothic Medium</vt:lpstr>
      <vt:lpstr>Helvetica Neue</vt:lpstr>
      <vt:lpstr>1_Office Theme</vt:lpstr>
      <vt:lpstr>Metabarcoding en comunidades de eucariontes Día 2</vt:lpstr>
      <vt:lpstr>PowerPoint Presentation</vt:lpstr>
      <vt:lpstr>Temas principales por día:</vt:lpstr>
      <vt:lpstr>PowerPoint Presentation</vt:lpstr>
      <vt:lpstr>PowerPoint Presentation</vt:lpstr>
      <vt:lpstr>Conexión al servidor</vt:lpstr>
      <vt:lpstr>Introducción a Linux, Unix </vt:lpstr>
      <vt:lpstr>Introducción a R</vt:lpstr>
      <vt:lpstr>¿Qué es DADA2?</vt:lpstr>
      <vt:lpstr>OTU vs ASV</vt:lpstr>
      <vt:lpstr>Workflow General DADA2</vt:lpstr>
      <vt:lpstr>PASO 1: Inspección de Calidad</vt:lpstr>
      <vt:lpstr>PASO 2: Filtrado y Recorte</vt:lpstr>
      <vt:lpstr>PowerPoint Presentation</vt:lpstr>
      <vt:lpstr>Cálculo de Truncamiento</vt:lpstr>
      <vt:lpstr>PASO 3: Modelo de Error</vt:lpstr>
      <vt:lpstr>Interpretación del Modelo de Error</vt:lpstr>
      <vt:lpstr>PASO 4: Inferencia de ASVs</vt:lpstr>
      <vt:lpstr>Opciones de Pooling</vt:lpstr>
      <vt:lpstr>PASO 5: Merge Paired-End</vt:lpstr>
      <vt:lpstr>PASO 6: Tabla de Secuencias</vt:lpstr>
      <vt:lpstr>PowerPoint Presentation</vt:lpstr>
      <vt:lpstr>PASO 7: Remoción de Quimeras</vt:lpstr>
      <vt:lpstr>PASO : Error rates</vt:lpstr>
      <vt:lpstr>Virtual PCR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Tania Valdivia</dc:creator>
  <cp:lastModifiedBy>Tania Valdivia</cp:lastModifiedBy>
  <cp:revision>3</cp:revision>
  <dcterms:created xsi:type="dcterms:W3CDTF">2025-11-09T20:13:28Z</dcterms:created>
  <dcterms:modified xsi:type="dcterms:W3CDTF">2025-11-18T17:00:00Z</dcterms:modified>
</cp:coreProperties>
</file>